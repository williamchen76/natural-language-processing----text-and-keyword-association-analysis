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9" r:id="rId6"/>
    <p:sldId id="263" r:id="rId7"/>
    <p:sldId id="264" r:id="rId8"/>
    <p:sldId id="265" r:id="rId9"/>
    <p:sldId id="266" r:id="rId10"/>
    <p:sldId id="268" r:id="rId11"/>
    <p:sldId id="261" r:id="rId12"/>
    <p:sldId id="262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A07A"/>
    <a:srgbClr val="308C59"/>
    <a:srgbClr val="4C9C6F"/>
    <a:srgbClr val="F3F4F6"/>
    <a:srgbClr val="FFA17C"/>
    <a:srgbClr val="4D038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70" autoAdjust="0"/>
  </p:normalViewPr>
  <p:slideViewPr>
    <p:cSldViewPr snapToGrid="0" snapToObjects="1">
      <p:cViewPr varScale="1">
        <p:scale>
          <a:sx n="79" d="100"/>
          <a:sy n="79" d="100"/>
        </p:scale>
        <p:origin x="43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數列 1</c:v>
                </c:pt>
              </c:strCache>
            </c:strRef>
          </c:tx>
          <c:spPr>
            <a:solidFill>
              <a:srgbClr val="308C59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5">
                  <a:lumMod val="75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8C5-4094-9DDD-D79DA15DD7BF}"/>
              </c:ext>
            </c:extLst>
          </c:dPt>
          <c:dPt>
            <c:idx val="1"/>
            <c:invertIfNegative val="0"/>
            <c:bubble3D val="0"/>
            <c:spPr>
              <a:solidFill>
                <a:srgbClr val="FFA07A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8C5-4094-9DDD-D79DA15DD7BF}"/>
              </c:ext>
            </c:extLst>
          </c:dPt>
          <c:cat>
            <c:strRef>
              <c:f>工作表1!$A$2:$A$4</c:f>
              <c:strCache>
                <c:ptCount val="3"/>
                <c:pt idx="0">
                  <c:v>初始詞彙</c:v>
                </c:pt>
                <c:pt idx="1">
                  <c:v>清理後詞彙</c:v>
                </c:pt>
                <c:pt idx="2">
                  <c:v>最終詞表</c:v>
                </c:pt>
              </c:strCache>
            </c:strRef>
          </c:cat>
          <c:val>
            <c:numRef>
              <c:f>工作表1!$B$2:$B$4</c:f>
              <c:numCache>
                <c:formatCode>General</c:formatCode>
                <c:ptCount val="3"/>
                <c:pt idx="0">
                  <c:v>726031</c:v>
                </c:pt>
                <c:pt idx="1">
                  <c:v>87930</c:v>
                </c:pt>
                <c:pt idx="2">
                  <c:v>3733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8C5-4094-9DDD-D79DA15DD7B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910254063"/>
        <c:axId val="6379439"/>
      </c:barChart>
      <c:catAx>
        <c:axId val="910254063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6379439"/>
        <c:crosses val="autoZero"/>
        <c:auto val="1"/>
        <c:lblAlgn val="ctr"/>
        <c:lblOffset val="100"/>
        <c:noMultiLvlLbl val="0"/>
      </c:catAx>
      <c:valAx>
        <c:axId val="637943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91025406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6456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EAFF0-28F3-662B-3B00-260147985D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87279AB-2E0E-A4DB-5A28-88ACE0A5D8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1C467D-54DB-478C-2B7B-7707C8A73F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5CC70E-47EF-89BE-1F6A-9ED694AE74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73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B61AF6-363D-7CD1-7953-4485D0E64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0BFD80-C0D0-8F56-ED09-DAEFB2097D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7D9720-3036-A015-DD15-49E9D9B3A1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11434D-7321-60B4-39C0-2CEBD76AD27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44661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2B0780-FAE6-7745-8B55-6C4E635A8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58A2CB-86DA-15C5-F8AE-3CC1119852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96550E-70E0-E33D-EFD9-89EFD19E6B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A51DB5-2076-2B80-5640-C589A95E42B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13167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9FF557-CE44-9734-E62E-0A78EF888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9902323-0BDE-472B-5B33-B77099C4F1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AEB64E-5568-77A9-ECF3-E2BA589682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6ACB18-6A36-6DE1-2169-11DDC7851B7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6690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8FD795-35EF-A440-0F6E-539718A08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93CC0-D46D-03B6-15AA-B2B9E3D0C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B0B1E9-D194-4292-5CFC-45553720AA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E50C37-1D3D-01CA-79E2-B8564BDB12F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29924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12" Type="http://schemas.openxmlformats.org/officeDocument/2006/relationships/chart" Target="../charts/char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11" Type="http://schemas.openxmlformats.org/officeDocument/2006/relationships/image" Target="../media/image25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13" Type="http://schemas.openxmlformats.org/officeDocument/2006/relationships/image" Target="../media/image35.png"/><Relationship Id="rId3" Type="http://schemas.openxmlformats.org/officeDocument/2006/relationships/image" Target="../media/image17.png"/><Relationship Id="rId7" Type="http://schemas.openxmlformats.org/officeDocument/2006/relationships/image" Target="../media/image29.png"/><Relationship Id="rId12" Type="http://schemas.openxmlformats.org/officeDocument/2006/relationships/image" Target="../media/image3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11" Type="http://schemas.openxmlformats.org/officeDocument/2006/relationships/image" Target="../media/image33.png"/><Relationship Id="rId5" Type="http://schemas.openxmlformats.org/officeDocument/2006/relationships/image" Target="../media/image27.png"/><Relationship Id="rId10" Type="http://schemas.openxmlformats.org/officeDocument/2006/relationships/image" Target="../media/image32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png"/><Relationship Id="rId13" Type="http://schemas.openxmlformats.org/officeDocument/2006/relationships/image" Target="../media/image44.png"/><Relationship Id="rId18" Type="http://schemas.openxmlformats.org/officeDocument/2006/relationships/image" Target="../media/image49.png"/><Relationship Id="rId3" Type="http://schemas.openxmlformats.org/officeDocument/2006/relationships/image" Target="../media/image17.png"/><Relationship Id="rId7" Type="http://schemas.openxmlformats.org/officeDocument/2006/relationships/image" Target="../media/image38.png"/><Relationship Id="rId12" Type="http://schemas.openxmlformats.org/officeDocument/2006/relationships/image" Target="../media/image43.png"/><Relationship Id="rId17" Type="http://schemas.openxmlformats.org/officeDocument/2006/relationships/image" Target="../media/image48.png"/><Relationship Id="rId2" Type="http://schemas.openxmlformats.org/officeDocument/2006/relationships/notesSlide" Target="../notesSlides/notesSlide4.xml"/><Relationship Id="rId16" Type="http://schemas.openxmlformats.org/officeDocument/2006/relationships/image" Target="../media/image4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5" Type="http://schemas.openxmlformats.org/officeDocument/2006/relationships/image" Target="../media/image46.png"/><Relationship Id="rId10" Type="http://schemas.openxmlformats.org/officeDocument/2006/relationships/image" Target="../media/image41.png"/><Relationship Id="rId4" Type="http://schemas.openxmlformats.org/officeDocument/2006/relationships/image" Target="../media/image26.png"/><Relationship Id="rId9" Type="http://schemas.openxmlformats.org/officeDocument/2006/relationships/image" Target="../media/image40.png"/><Relationship Id="rId14" Type="http://schemas.openxmlformats.org/officeDocument/2006/relationships/image" Target="../media/image4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png"/><Relationship Id="rId13" Type="http://schemas.openxmlformats.org/officeDocument/2006/relationships/image" Target="../media/image62.png"/><Relationship Id="rId18" Type="http://schemas.openxmlformats.org/officeDocument/2006/relationships/image" Target="../media/image67.png"/><Relationship Id="rId3" Type="http://schemas.openxmlformats.org/officeDocument/2006/relationships/image" Target="../media/image17.png"/><Relationship Id="rId21" Type="http://schemas.openxmlformats.org/officeDocument/2006/relationships/image" Target="../media/image70.png"/><Relationship Id="rId7" Type="http://schemas.openxmlformats.org/officeDocument/2006/relationships/image" Target="../media/image56.png"/><Relationship Id="rId12" Type="http://schemas.openxmlformats.org/officeDocument/2006/relationships/image" Target="../media/image61.png"/><Relationship Id="rId17" Type="http://schemas.openxmlformats.org/officeDocument/2006/relationships/image" Target="../media/image66.png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65.png"/><Relationship Id="rId20" Type="http://schemas.openxmlformats.org/officeDocument/2006/relationships/image" Target="../media/image6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5.png"/><Relationship Id="rId11" Type="http://schemas.openxmlformats.org/officeDocument/2006/relationships/image" Target="../media/image60.png"/><Relationship Id="rId5" Type="http://schemas.openxmlformats.org/officeDocument/2006/relationships/image" Target="../media/image54.png"/><Relationship Id="rId15" Type="http://schemas.openxmlformats.org/officeDocument/2006/relationships/image" Target="../media/image64.png"/><Relationship Id="rId10" Type="http://schemas.openxmlformats.org/officeDocument/2006/relationships/image" Target="../media/image59.png"/><Relationship Id="rId19" Type="http://schemas.openxmlformats.org/officeDocument/2006/relationships/image" Target="../media/image68.png"/><Relationship Id="rId4" Type="http://schemas.openxmlformats.org/officeDocument/2006/relationships/image" Target="../media/image53.png"/><Relationship Id="rId9" Type="http://schemas.openxmlformats.org/officeDocument/2006/relationships/image" Target="../media/image58.png"/><Relationship Id="rId14" Type="http://schemas.openxmlformats.org/officeDocument/2006/relationships/image" Target="../media/image6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4.png"/><Relationship Id="rId4" Type="http://schemas.openxmlformats.org/officeDocument/2006/relationships/image" Target="../media/image7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6.png"/><Relationship Id="rId4" Type="http://schemas.openxmlformats.org/officeDocument/2006/relationships/image" Target="../media/image7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13" Type="http://schemas.openxmlformats.org/officeDocument/2006/relationships/image" Target="../media/image85.png"/><Relationship Id="rId18" Type="http://schemas.openxmlformats.org/officeDocument/2006/relationships/image" Target="../media/image90.png"/><Relationship Id="rId3" Type="http://schemas.openxmlformats.org/officeDocument/2006/relationships/image" Target="../media/image17.png"/><Relationship Id="rId21" Type="http://schemas.openxmlformats.org/officeDocument/2006/relationships/image" Target="../media/image93.png"/><Relationship Id="rId7" Type="http://schemas.openxmlformats.org/officeDocument/2006/relationships/image" Target="../media/image79.png"/><Relationship Id="rId12" Type="http://schemas.openxmlformats.org/officeDocument/2006/relationships/image" Target="../media/image84.png"/><Relationship Id="rId17" Type="http://schemas.openxmlformats.org/officeDocument/2006/relationships/image" Target="../media/image89.png"/><Relationship Id="rId2" Type="http://schemas.openxmlformats.org/officeDocument/2006/relationships/notesSlide" Target="../notesSlides/notesSlide10.xml"/><Relationship Id="rId16" Type="http://schemas.openxmlformats.org/officeDocument/2006/relationships/image" Target="../media/image88.png"/><Relationship Id="rId20" Type="http://schemas.openxmlformats.org/officeDocument/2006/relationships/image" Target="../media/image9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24" Type="http://schemas.openxmlformats.org/officeDocument/2006/relationships/image" Target="../media/image96.png"/><Relationship Id="rId5" Type="http://schemas.openxmlformats.org/officeDocument/2006/relationships/image" Target="../media/image77.png"/><Relationship Id="rId15" Type="http://schemas.openxmlformats.org/officeDocument/2006/relationships/image" Target="../media/image87.png"/><Relationship Id="rId23" Type="http://schemas.openxmlformats.org/officeDocument/2006/relationships/image" Target="../media/image95.png"/><Relationship Id="rId10" Type="http://schemas.openxmlformats.org/officeDocument/2006/relationships/image" Target="../media/image82.png"/><Relationship Id="rId19" Type="http://schemas.openxmlformats.org/officeDocument/2006/relationships/image" Target="../media/image91.png"/><Relationship Id="rId4" Type="http://schemas.openxmlformats.org/officeDocument/2006/relationships/image" Target="../media/image26.png"/><Relationship Id="rId9" Type="http://schemas.openxmlformats.org/officeDocument/2006/relationships/image" Target="../media/image81.png"/><Relationship Id="rId14" Type="http://schemas.openxmlformats.org/officeDocument/2006/relationships/image" Target="../media/image86.png"/><Relationship Id="rId22" Type="http://schemas.openxmlformats.org/officeDocument/2006/relationships/image" Target="../media/image9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0.png"/><Relationship Id="rId13" Type="http://schemas.openxmlformats.org/officeDocument/2006/relationships/image" Target="../media/image105.png"/><Relationship Id="rId18" Type="http://schemas.openxmlformats.org/officeDocument/2006/relationships/image" Target="../media/image110.png"/><Relationship Id="rId3" Type="http://schemas.openxmlformats.org/officeDocument/2006/relationships/image" Target="../media/image17.png"/><Relationship Id="rId21" Type="http://schemas.openxmlformats.org/officeDocument/2006/relationships/image" Target="../media/image113.png"/><Relationship Id="rId7" Type="http://schemas.openxmlformats.org/officeDocument/2006/relationships/image" Target="../media/image99.png"/><Relationship Id="rId12" Type="http://schemas.openxmlformats.org/officeDocument/2006/relationships/image" Target="../media/image104.png"/><Relationship Id="rId17" Type="http://schemas.openxmlformats.org/officeDocument/2006/relationships/image" Target="../media/image109.png"/><Relationship Id="rId2" Type="http://schemas.openxmlformats.org/officeDocument/2006/relationships/notesSlide" Target="../notesSlides/notesSlide11.xml"/><Relationship Id="rId16" Type="http://schemas.openxmlformats.org/officeDocument/2006/relationships/image" Target="../media/image108.png"/><Relationship Id="rId20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8.png"/><Relationship Id="rId11" Type="http://schemas.openxmlformats.org/officeDocument/2006/relationships/image" Target="../media/image103.png"/><Relationship Id="rId5" Type="http://schemas.openxmlformats.org/officeDocument/2006/relationships/image" Target="../media/image97.png"/><Relationship Id="rId15" Type="http://schemas.openxmlformats.org/officeDocument/2006/relationships/image" Target="../media/image107.png"/><Relationship Id="rId23" Type="http://schemas.openxmlformats.org/officeDocument/2006/relationships/image" Target="../media/image115.png"/><Relationship Id="rId10" Type="http://schemas.openxmlformats.org/officeDocument/2006/relationships/image" Target="../media/image102.png"/><Relationship Id="rId19" Type="http://schemas.openxmlformats.org/officeDocument/2006/relationships/image" Target="../media/image111.png"/><Relationship Id="rId4" Type="http://schemas.openxmlformats.org/officeDocument/2006/relationships/image" Target="../media/image26.png"/><Relationship Id="rId9" Type="http://schemas.openxmlformats.org/officeDocument/2006/relationships/image" Target="../media/image101.png"/><Relationship Id="rId14" Type="http://schemas.openxmlformats.org/officeDocument/2006/relationships/image" Target="../media/image106.png"/><Relationship Id="rId22" Type="http://schemas.openxmlformats.org/officeDocument/2006/relationships/image" Target="../media/image1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4405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952500"/>
            <a:ext cx="762000" cy="762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500" y="2381250"/>
            <a:ext cx="609600" cy="609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0" y="1428750"/>
            <a:ext cx="914400" cy="9144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57500" y="3810000"/>
            <a:ext cx="533400" cy="5334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67500" y="4762500"/>
            <a:ext cx="762000" cy="7620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97785" y="1048075"/>
            <a:ext cx="2765063" cy="757976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823375" y="0"/>
            <a:ext cx="2896637" cy="1541774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852988" y="2477776"/>
            <a:ext cx="2071748" cy="1207123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0" y="3906526"/>
            <a:ext cx="2957512" cy="1921498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38800" y="2019300"/>
            <a:ext cx="914400" cy="381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705350" y="4038600"/>
            <a:ext cx="133350" cy="1524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5867400" y="4095750"/>
            <a:ext cx="38100" cy="381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057900" y="4038600"/>
            <a:ext cx="133350" cy="1524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0" y="6248400"/>
            <a:ext cx="12192000" cy="6096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48950" y="6486525"/>
            <a:ext cx="133350" cy="152400"/>
          </a:xfrm>
          <a:prstGeom prst="rect">
            <a:avLst/>
          </a:prstGeom>
        </p:spPr>
      </p:pic>
      <p:sp>
        <p:nvSpPr>
          <p:cNvPr id="18" name="Text 0"/>
          <p:cNvSpPr/>
          <p:nvPr/>
        </p:nvSpPr>
        <p:spPr>
          <a:xfrm>
            <a:off x="2133600" y="952500"/>
            <a:ext cx="762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分析</a:t>
            </a:r>
            <a:endParaRPr lang="en-US" sz="1200" dirty="0"/>
          </a:p>
        </p:txBody>
      </p:sp>
      <p:sp>
        <p:nvSpPr>
          <p:cNvPr id="19" name="Text 1"/>
          <p:cNvSpPr/>
          <p:nvPr/>
        </p:nvSpPr>
        <p:spPr>
          <a:xfrm>
            <a:off x="4914900" y="2381250"/>
            <a:ext cx="609600" cy="609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模型</a:t>
            </a:r>
            <a:endParaRPr lang="en-US" sz="1200" dirty="0"/>
          </a:p>
        </p:txBody>
      </p:sp>
      <p:sp>
        <p:nvSpPr>
          <p:cNvPr id="20" name="Text 2"/>
          <p:cNvSpPr/>
          <p:nvPr/>
        </p:nvSpPr>
        <p:spPr>
          <a:xfrm>
            <a:off x="7924800" y="1428750"/>
            <a:ext cx="914400" cy="914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文本</a:t>
            </a:r>
            <a:endParaRPr lang="en-US" sz="1200" dirty="0"/>
          </a:p>
        </p:txBody>
      </p:sp>
      <p:sp>
        <p:nvSpPr>
          <p:cNvPr id="21" name="Text 3"/>
          <p:cNvSpPr/>
          <p:nvPr/>
        </p:nvSpPr>
        <p:spPr>
          <a:xfrm>
            <a:off x="2971800" y="3810000"/>
            <a:ext cx="64008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關聯</a:t>
            </a:r>
            <a:endParaRPr lang="en-US" sz="1200" dirty="0"/>
          </a:p>
        </p:txBody>
      </p:sp>
      <p:sp>
        <p:nvSpPr>
          <p:cNvPr id="22" name="Text 4"/>
          <p:cNvSpPr/>
          <p:nvPr/>
        </p:nvSpPr>
        <p:spPr>
          <a:xfrm>
            <a:off x="6896100" y="4762500"/>
            <a:ext cx="762000" cy="762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結果</a:t>
            </a:r>
            <a:endParaRPr lang="en-US" sz="1200" dirty="0"/>
          </a:p>
        </p:txBody>
      </p:sp>
      <p:sp>
        <p:nvSpPr>
          <p:cNvPr id="23" name="Text 5"/>
          <p:cNvSpPr/>
          <p:nvPr/>
        </p:nvSpPr>
        <p:spPr>
          <a:xfrm>
            <a:off x="2971800" y="2702593"/>
            <a:ext cx="603504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6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文本關聯性分析模型建立</a:t>
            </a:r>
            <a:endParaRPr lang="en-US" sz="3600" dirty="0"/>
          </a:p>
        </p:txBody>
      </p:sp>
      <p:sp>
        <p:nvSpPr>
          <p:cNvPr id="24" name="Text 6"/>
          <p:cNvSpPr/>
          <p:nvPr/>
        </p:nvSpPr>
        <p:spPr>
          <a:xfrm>
            <a:off x="4305300" y="3288996"/>
            <a:ext cx="3200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從非結構化文本中提取關鍵洞察</a:t>
            </a:r>
            <a:endParaRPr lang="en-US" sz="1500" dirty="0"/>
          </a:p>
        </p:txBody>
      </p:sp>
      <p:sp>
        <p:nvSpPr>
          <p:cNvPr id="25" name="Text 7"/>
          <p:cNvSpPr/>
          <p:nvPr/>
        </p:nvSpPr>
        <p:spPr>
          <a:xfrm>
            <a:off x="4914900" y="4000500"/>
            <a:ext cx="96012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2025-11-20</a:t>
            </a:r>
            <a:endParaRPr lang="en-US" sz="1200" dirty="0"/>
          </a:p>
        </p:txBody>
      </p:sp>
      <p:sp>
        <p:nvSpPr>
          <p:cNvPr id="26" name="Text 8"/>
          <p:cNvSpPr/>
          <p:nvPr/>
        </p:nvSpPr>
        <p:spPr>
          <a:xfrm>
            <a:off x="6267450" y="4000500"/>
            <a:ext cx="146304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專案測驗成果展示</a:t>
            </a:r>
            <a:endParaRPr lang="en-US" sz="1200" dirty="0"/>
          </a:p>
        </p:txBody>
      </p:sp>
      <p:sp>
        <p:nvSpPr>
          <p:cNvPr id="27" name="Text 9"/>
          <p:cNvSpPr/>
          <p:nvPr/>
        </p:nvSpPr>
        <p:spPr>
          <a:xfrm>
            <a:off x="457200" y="6438900"/>
            <a:ext cx="20116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關鍵字與文件關聯性分析</a:t>
            </a:r>
            <a:endParaRPr lang="en-US" sz="1200" dirty="0"/>
          </a:p>
        </p:txBody>
      </p:sp>
      <p:sp>
        <p:nvSpPr>
          <p:cNvPr id="28" name="Text 10"/>
          <p:cNvSpPr/>
          <p:nvPr/>
        </p:nvSpPr>
        <p:spPr>
          <a:xfrm>
            <a:off x="10896600" y="6438900"/>
            <a:ext cx="10972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477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4800" y="952500"/>
            <a:ext cx="5562600" cy="5181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219200"/>
            <a:ext cx="257175" cy="2286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1676400"/>
            <a:ext cx="171450" cy="17145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362200"/>
            <a:ext cx="171450" cy="17145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2781300"/>
            <a:ext cx="171450" cy="17145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3400" y="3200400"/>
            <a:ext cx="171450" cy="17145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24600" y="952500"/>
            <a:ext cx="5562600" cy="28194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53200" y="1219200"/>
            <a:ext cx="228600" cy="2286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1600200"/>
            <a:ext cx="5105400" cy="5715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286000"/>
            <a:ext cx="5105400" cy="5715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53200" y="2971800"/>
            <a:ext cx="5105400" cy="5715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324600" y="3886200"/>
            <a:ext cx="5562600" cy="2171700"/>
          </a:xfrm>
          <a:prstGeom prst="rect">
            <a:avLst/>
          </a:prstGeom>
        </p:spPr>
      </p:pic>
      <p:sp>
        <p:nvSpPr>
          <p:cNvPr id="17" name="Text 0"/>
          <p:cNvSpPr/>
          <p:nvPr/>
        </p:nvSpPr>
        <p:spPr>
          <a:xfrm>
            <a:off x="381000" y="152400"/>
            <a:ext cx="11430000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專案概述與核心挑戰</a:t>
            </a:r>
            <a:endParaRPr lang="en-US" sz="2250" dirty="0"/>
          </a:p>
        </p:txBody>
      </p:sp>
      <p:sp>
        <p:nvSpPr>
          <p:cNvPr id="18" name="Text 1"/>
          <p:cNvSpPr/>
          <p:nvPr/>
        </p:nvSpPr>
        <p:spPr>
          <a:xfrm>
            <a:off x="904875" y="11811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專案概述</a:t>
            </a:r>
            <a:endParaRPr lang="en-US" sz="1800" dirty="0"/>
          </a:p>
        </p:txBody>
      </p:sp>
      <p:sp>
        <p:nvSpPr>
          <p:cNvPr id="19" name="Text 2"/>
          <p:cNvSpPr/>
          <p:nvPr/>
        </p:nvSpPr>
        <p:spPr>
          <a:xfrm>
            <a:off x="781050" y="1638300"/>
            <a:ext cx="4857750" cy="5334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從大量</a:t>
            </a:r>
            <a:r>
              <a:rPr lang="en-US" sz="1350" dirty="0">
                <a:solidFill>
                  <a:srgbClr val="2E8B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非結構化文本</a:t>
            </a: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中建立可複用的</a:t>
            </a:r>
            <a:r>
              <a:rPr lang="en-US" sz="1350" dirty="0">
                <a:solidFill>
                  <a:srgbClr val="2E8B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關鍵字與文件關聯性分析模型</a:t>
            </a:r>
            <a:endParaRPr lang="en-US" sz="1350" dirty="0"/>
          </a:p>
        </p:txBody>
      </p:sp>
      <p:sp>
        <p:nvSpPr>
          <p:cNvPr id="20" name="Text 3"/>
          <p:cNvSpPr/>
          <p:nvPr/>
        </p:nvSpPr>
        <p:spPr>
          <a:xfrm>
            <a:off x="781050" y="2324100"/>
            <a:ext cx="50101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處理</a:t>
            </a:r>
            <a:r>
              <a:rPr lang="en-US" altLang="zh-TW" sz="1350" dirty="0">
                <a:solidFill>
                  <a:srgbClr val="2E8B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9943</a:t>
            </a:r>
            <a:r>
              <a:rPr lang="zh-TW" altLang="en-US" sz="1350" dirty="0">
                <a:solidFill>
                  <a:srgbClr val="2E8B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個文本、</a:t>
            </a:r>
            <a:r>
              <a:rPr lang="en-US" altLang="zh-TW" sz="1350" dirty="0">
                <a:solidFill>
                  <a:srgbClr val="2E8B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726</a:t>
            </a:r>
            <a:r>
              <a:rPr lang="en-US" sz="1350" dirty="0">
                <a:solidFill>
                  <a:srgbClr val="2E8B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,000個</a:t>
            </a:r>
            <a:r>
              <a:rPr lang="en-US" sz="1350" dirty="0">
                <a:solidFill>
                  <a:srgbClr val="4C9C6F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詞彙</a:t>
            </a: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的龐大詞彙庫，避免記憶體溢出</a:t>
            </a:r>
            <a:endParaRPr lang="en-US" sz="1350" dirty="0"/>
          </a:p>
        </p:txBody>
      </p:sp>
      <p:sp>
        <p:nvSpPr>
          <p:cNvPr id="21" name="Text 4"/>
          <p:cNvSpPr/>
          <p:nvPr/>
        </p:nvSpPr>
        <p:spPr>
          <a:xfrm>
            <a:off x="781050" y="2743200"/>
            <a:ext cx="425196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 err="1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將分析範圍限制在</a:t>
            </a:r>
            <a:r>
              <a:rPr lang="zh-TW" altLang="en-US" sz="1350" dirty="0">
                <a:solidFill>
                  <a:srgbClr val="2E8B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部分有意義之</a:t>
            </a:r>
            <a:r>
              <a:rPr lang="en-US" sz="1350" dirty="0" err="1">
                <a:solidFill>
                  <a:srgbClr val="2E8B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詞彙</a:t>
            </a:r>
            <a:r>
              <a:rPr lang="en-US" sz="1350" dirty="0" err="1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的關聯结果</a:t>
            </a:r>
            <a:endParaRPr lang="en-US" sz="1350" dirty="0"/>
          </a:p>
        </p:txBody>
      </p:sp>
      <p:sp>
        <p:nvSpPr>
          <p:cNvPr id="22" name="Text 5"/>
          <p:cNvSpPr/>
          <p:nvPr/>
        </p:nvSpPr>
        <p:spPr>
          <a:xfrm>
            <a:off x="781050" y="3162300"/>
            <a:ext cx="37033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專注於</a:t>
            </a:r>
            <a:r>
              <a:rPr lang="en-US" sz="1350" dirty="0">
                <a:solidFill>
                  <a:srgbClr val="2E8B5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關鍵字分析</a:t>
            </a:r>
            <a:r>
              <a:rPr lang="en-US" sz="1350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而非傳統句子層級分析</a:t>
            </a:r>
            <a:endParaRPr lang="en-US" sz="1350" dirty="0"/>
          </a:p>
        </p:txBody>
      </p:sp>
      <p:sp>
        <p:nvSpPr>
          <p:cNvPr id="23" name="Text 6"/>
          <p:cNvSpPr/>
          <p:nvPr/>
        </p:nvSpPr>
        <p:spPr>
          <a:xfrm>
            <a:off x="6896100" y="1181100"/>
            <a:ext cx="5105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核心挑戰</a:t>
            </a:r>
            <a:endParaRPr lang="en-US" sz="1800" dirty="0"/>
          </a:p>
        </p:txBody>
      </p:sp>
      <p:sp>
        <p:nvSpPr>
          <p:cNvPr id="24" name="Text 7"/>
          <p:cNvSpPr/>
          <p:nvPr/>
        </p:nvSpPr>
        <p:spPr>
          <a:xfrm>
            <a:off x="6705600" y="16002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記憶體溢出問題</a:t>
            </a:r>
            <a:endParaRPr lang="en-US" sz="1500" dirty="0"/>
          </a:p>
        </p:txBody>
      </p:sp>
      <p:sp>
        <p:nvSpPr>
          <p:cNvPr id="25" name="Text 8"/>
          <p:cNvSpPr/>
          <p:nvPr/>
        </p:nvSpPr>
        <p:spPr>
          <a:xfrm>
            <a:off x="6705600" y="1943100"/>
            <a:ext cx="5181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初始詞彙量高達</a:t>
            </a:r>
            <a:r>
              <a:rPr lang="en-US" altLang="zh-TW" sz="1200" dirty="0">
                <a:solidFill>
                  <a:srgbClr val="FFA0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726K</a:t>
            </a:r>
            <a:r>
              <a:rPr lang="zh-TW" altLang="en-US" sz="1200" dirty="0">
                <a:solidFill>
                  <a:srgbClr val="FFA0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 </a:t>
            </a:r>
            <a:r>
              <a:rPr lang="en-US" sz="1200" dirty="0">
                <a:solidFill>
                  <a:srgbClr val="FFA0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個</a:t>
            </a: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r>
              <a:rPr lang="zh-TW" alt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即便清理過後仍有</a:t>
            </a:r>
            <a:r>
              <a:rPr lang="en-US" altLang="zh-TW" sz="1200" dirty="0">
                <a:solidFill>
                  <a:srgbClr val="FFA07A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88K</a:t>
            </a:r>
            <a:r>
              <a:rPr lang="zh-TW" alt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，</a:t>
            </a:r>
            <a:r>
              <a:rPr lang="en-US" sz="1200" dirty="0" err="1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關聯分析</a:t>
            </a:r>
            <a:r>
              <a:rPr lang="zh-TW" alt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會</a:t>
            </a:r>
            <a:r>
              <a:rPr lang="en-US" sz="1200" dirty="0" err="1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導致RAM爆掉</a:t>
            </a:r>
            <a:endParaRPr lang="en-US" sz="1200" dirty="0"/>
          </a:p>
        </p:txBody>
      </p:sp>
      <p:sp>
        <p:nvSpPr>
          <p:cNvPr id="26" name="Text 9"/>
          <p:cNvSpPr/>
          <p:nvPr/>
        </p:nvSpPr>
        <p:spPr>
          <a:xfrm>
            <a:off x="6705600" y="22860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文本結構碎片化</a:t>
            </a:r>
            <a:endParaRPr lang="en-US" sz="1500" dirty="0"/>
          </a:p>
        </p:txBody>
      </p:sp>
      <p:sp>
        <p:nvSpPr>
          <p:cNvPr id="27" name="Text 10"/>
          <p:cNvSpPr/>
          <p:nvPr/>
        </p:nvSpPr>
        <p:spPr>
          <a:xfrm>
            <a:off x="6705600" y="2628900"/>
            <a:ext cx="594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文本內容多為片段式名詞和敘事句，非連貫長篇文章</a:t>
            </a:r>
            <a:endParaRPr lang="en-US" sz="1200" dirty="0"/>
          </a:p>
        </p:txBody>
      </p:sp>
      <p:sp>
        <p:nvSpPr>
          <p:cNvPr id="28" name="Text 11"/>
          <p:cNvSpPr/>
          <p:nvPr/>
        </p:nvSpPr>
        <p:spPr>
          <a:xfrm>
            <a:off x="6705600" y="2971800"/>
            <a:ext cx="4953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F2937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金融專業詞彙識別</a:t>
            </a:r>
            <a:endParaRPr lang="en-US" sz="1500" dirty="0"/>
          </a:p>
        </p:txBody>
      </p:sp>
      <p:sp>
        <p:nvSpPr>
          <p:cNvPr id="29" name="Text 12"/>
          <p:cNvSpPr/>
          <p:nvPr/>
        </p:nvSpPr>
        <p:spPr>
          <a:xfrm>
            <a:off x="6705600" y="3314700"/>
            <a:ext cx="594360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74151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需確保金融領域專有名詞被正確識別和保留</a:t>
            </a:r>
            <a:endParaRPr lang="en-US" sz="1200" dirty="0"/>
          </a:p>
        </p:txBody>
      </p:sp>
      <p:sp>
        <p:nvSpPr>
          <p:cNvPr id="30" name="Text 13"/>
          <p:cNvSpPr/>
          <p:nvPr/>
        </p:nvSpPr>
        <p:spPr>
          <a:xfrm>
            <a:off x="6438900" y="40005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詞彙降維效果</a:t>
            </a:r>
            <a:endParaRPr lang="en-US" sz="1350" dirty="0"/>
          </a:p>
        </p:txBody>
      </p:sp>
      <p:sp>
        <p:nvSpPr>
          <p:cNvPr id="31" name="Text 14"/>
          <p:cNvSpPr/>
          <p:nvPr/>
        </p:nvSpPr>
        <p:spPr>
          <a:xfrm>
            <a:off x="381000" y="6553200"/>
            <a:ext cx="114300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r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Noto Sans TC" pitchFamily="34" charset="0"/>
                <a:ea typeface="Noto Sans TC" pitchFamily="34" charset="-122"/>
                <a:cs typeface="Noto Sans TC" pitchFamily="34" charset="-120"/>
              </a:rPr>
              <a:t>第2頁 / 共7頁</a:t>
            </a:r>
            <a:endParaRPr lang="en-US" sz="1050" dirty="0"/>
          </a:p>
        </p:txBody>
      </p:sp>
      <p:graphicFrame>
        <p:nvGraphicFramePr>
          <p:cNvPr id="34" name="圖表 33">
            <a:extLst>
              <a:ext uri="{FF2B5EF4-FFF2-40B4-BE49-F238E27FC236}">
                <a16:creationId xmlns:a16="http://schemas.microsoft.com/office/drawing/2014/main" id="{97F33EFC-8C05-8E93-12AD-BB74CD3A7C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76450586"/>
              </p:ext>
            </p:extLst>
          </p:nvPr>
        </p:nvGraphicFramePr>
        <p:xfrm>
          <a:off x="6947535" y="4154593"/>
          <a:ext cx="4469130" cy="18753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2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85850"/>
            <a:ext cx="228600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43201" y="1866900"/>
            <a:ext cx="1981200" cy="11049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29201" y="1866900"/>
            <a:ext cx="2019449" cy="11049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57200" y="4724400"/>
            <a:ext cx="11277600" cy="12954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09600" y="4895850"/>
            <a:ext cx="228600" cy="2286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90600" y="5295900"/>
            <a:ext cx="190500" cy="17145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90600" y="5638800"/>
            <a:ext cx="171450" cy="17145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38900" y="5295900"/>
            <a:ext cx="171450" cy="17145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38900" y="5638800"/>
            <a:ext cx="171450" cy="171450"/>
          </a:xfrm>
          <a:prstGeom prst="rect">
            <a:avLst/>
          </a:prstGeom>
        </p:spPr>
      </p:pic>
      <p:sp>
        <p:nvSpPr>
          <p:cNvPr id="14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資料前處理策略</a:t>
            </a:r>
            <a:endParaRPr lang="en-US" sz="2700" dirty="0"/>
          </a:p>
        </p:txBody>
      </p:sp>
      <p:sp>
        <p:nvSpPr>
          <p:cNvPr id="15" name="Text 1"/>
          <p:cNvSpPr/>
          <p:nvPr/>
        </p:nvSpPr>
        <p:spPr>
          <a:xfrm>
            <a:off x="800100" y="1066800"/>
            <a:ext cx="1127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TF-IDF降維策略</a:t>
            </a:r>
            <a:endParaRPr lang="en-US" sz="1800" dirty="0"/>
          </a:p>
        </p:txBody>
      </p:sp>
      <p:sp>
        <p:nvSpPr>
          <p:cNvPr id="16" name="Text 2"/>
          <p:cNvSpPr/>
          <p:nvPr/>
        </p:nvSpPr>
        <p:spPr>
          <a:xfrm>
            <a:off x="838200" y="1447800"/>
            <a:ext cx="10896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運用詞頻-逆文件頻率方法，篩選最具代表性的關鍵字</a:t>
            </a:r>
            <a:endParaRPr lang="en-US" sz="1500" dirty="0"/>
          </a:p>
        </p:txBody>
      </p:sp>
      <p:sp>
        <p:nvSpPr>
          <p:cNvPr id="17" name="Text 3"/>
          <p:cNvSpPr/>
          <p:nvPr/>
        </p:nvSpPr>
        <p:spPr>
          <a:xfrm>
            <a:off x="4057501" y="1981200"/>
            <a:ext cx="210312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最小文件頻次 (min_df)</a:t>
            </a:r>
            <a:endParaRPr lang="en-US" sz="1350" dirty="0"/>
          </a:p>
        </p:txBody>
      </p:sp>
      <p:sp>
        <p:nvSpPr>
          <p:cNvPr id="18" name="Text 4"/>
          <p:cNvSpPr/>
          <p:nvPr/>
        </p:nvSpPr>
        <p:spPr>
          <a:xfrm>
            <a:off x="4774853" y="2286000"/>
            <a:ext cx="381476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</a:t>
            </a:r>
            <a:endParaRPr lang="en-US" sz="2250" dirty="0"/>
          </a:p>
        </p:txBody>
      </p:sp>
      <p:sp>
        <p:nvSpPr>
          <p:cNvPr id="19" name="Text 5"/>
          <p:cNvSpPr/>
          <p:nvPr/>
        </p:nvSpPr>
        <p:spPr>
          <a:xfrm>
            <a:off x="4126111" y="2667000"/>
            <a:ext cx="193827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詞彙至少出現在50個文檔中</a:t>
            </a:r>
            <a:endParaRPr lang="en-US" sz="1050" dirty="0"/>
          </a:p>
        </p:txBody>
      </p:sp>
      <p:sp>
        <p:nvSpPr>
          <p:cNvPr id="20" name="Text 6"/>
          <p:cNvSpPr/>
          <p:nvPr/>
        </p:nvSpPr>
        <p:spPr>
          <a:xfrm>
            <a:off x="6343501" y="1981200"/>
            <a:ext cx="214901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最大文件頻次 (max_df)</a:t>
            </a:r>
            <a:endParaRPr lang="en-US" sz="1350" dirty="0"/>
          </a:p>
        </p:txBody>
      </p:sp>
      <p:sp>
        <p:nvSpPr>
          <p:cNvPr id="21" name="Text 7"/>
          <p:cNvSpPr/>
          <p:nvPr/>
        </p:nvSpPr>
        <p:spPr>
          <a:xfrm>
            <a:off x="7000429" y="2286000"/>
            <a:ext cx="572214" cy="3429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700"/>
              </a:lnSpc>
              <a:buNone/>
            </a:pPr>
            <a:r>
              <a:rPr lang="en-US" sz="2250" b="1" dirty="0">
                <a:solidFill>
                  <a:srgbClr val="FF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500</a:t>
            </a:r>
            <a:endParaRPr lang="en-US" sz="2250" dirty="0"/>
          </a:p>
        </p:txBody>
      </p:sp>
      <p:sp>
        <p:nvSpPr>
          <p:cNvPr id="22" name="Text 8"/>
          <p:cNvSpPr/>
          <p:nvPr/>
        </p:nvSpPr>
        <p:spPr>
          <a:xfrm>
            <a:off x="6394252" y="2667000"/>
            <a:ext cx="20272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詞彙最多出現在500個文檔中</a:t>
            </a:r>
            <a:endParaRPr lang="en-US" sz="1050" dirty="0"/>
          </a:p>
        </p:txBody>
      </p:sp>
      <p:sp>
        <p:nvSpPr>
          <p:cNvPr id="23" name="Text 9"/>
          <p:cNvSpPr/>
          <p:nvPr/>
        </p:nvSpPr>
        <p:spPr>
          <a:xfrm>
            <a:off x="952500" y="4876800"/>
            <a:ext cx="109728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降維效益</a:t>
            </a:r>
            <a:endParaRPr lang="en-US" sz="1800" dirty="0"/>
          </a:p>
        </p:txBody>
      </p:sp>
      <p:sp>
        <p:nvSpPr>
          <p:cNvPr id="24" name="Text 10"/>
          <p:cNvSpPr/>
          <p:nvPr/>
        </p:nvSpPr>
        <p:spPr>
          <a:xfrm>
            <a:off x="1066800" y="52578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顯著降低計算複雜度</a:t>
            </a:r>
            <a:endParaRPr lang="en-US" sz="1350" dirty="0"/>
          </a:p>
        </p:txBody>
      </p:sp>
      <p:sp>
        <p:nvSpPr>
          <p:cNvPr id="25" name="Text 11"/>
          <p:cNvSpPr/>
          <p:nvPr/>
        </p:nvSpPr>
        <p:spPr>
          <a:xfrm>
            <a:off x="1047750" y="56007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排除低頻詞（罕見詞彙）</a:t>
            </a:r>
            <a:endParaRPr lang="en-US" sz="1350" dirty="0"/>
          </a:p>
        </p:txBody>
      </p:sp>
      <p:sp>
        <p:nvSpPr>
          <p:cNvPr id="26" name="Text 12"/>
          <p:cNvSpPr/>
          <p:nvPr/>
        </p:nvSpPr>
        <p:spPr>
          <a:xfrm>
            <a:off x="6496050" y="52578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排除高頻詞（普遍詞彙）</a:t>
            </a:r>
            <a:endParaRPr lang="en-US" sz="1350" dirty="0"/>
          </a:p>
        </p:txBody>
      </p:sp>
      <p:sp>
        <p:nvSpPr>
          <p:cNvPr id="27" name="Text 13"/>
          <p:cNvSpPr/>
          <p:nvPr/>
        </p:nvSpPr>
        <p:spPr>
          <a:xfrm>
            <a:off x="6496050" y="5600700"/>
            <a:ext cx="53340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3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為後續分析奠定基礎</a:t>
            </a:r>
            <a:endParaRPr lang="en-US" sz="1350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EB667252-8A55-2296-7058-9AFEC49DC1E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57200" y="3309831"/>
            <a:ext cx="10852278" cy="1266896"/>
          </a:xfrm>
          <a:prstGeom prst="rect">
            <a:avLst/>
          </a:prstGeom>
        </p:spPr>
      </p:pic>
      <p:sp>
        <p:nvSpPr>
          <p:cNvPr id="30" name="文字方塊 29">
            <a:extLst>
              <a:ext uri="{FF2B5EF4-FFF2-40B4-BE49-F238E27FC236}">
                <a16:creationId xmlns:a16="http://schemas.microsoft.com/office/drawing/2014/main" id="{EB247C33-B335-4C72-A08B-8F67AC58E588}"/>
              </a:ext>
            </a:extLst>
          </p:cNvPr>
          <p:cNvSpPr txBox="1"/>
          <p:nvPr/>
        </p:nvSpPr>
        <p:spPr>
          <a:xfrm>
            <a:off x="5550518" y="3560802"/>
            <a:ext cx="117692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減少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95.7%</a:t>
            </a:r>
            <a:endParaRPr lang="zh-TW" alt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文字方塊 30">
            <a:extLst>
              <a:ext uri="{FF2B5EF4-FFF2-40B4-BE49-F238E27FC236}">
                <a16:creationId xmlns:a16="http://schemas.microsoft.com/office/drawing/2014/main" id="{A6952B45-8060-9547-475D-4D5CB063AD13}"/>
              </a:ext>
            </a:extLst>
          </p:cNvPr>
          <p:cNvSpPr txBox="1"/>
          <p:nvPr/>
        </p:nvSpPr>
        <p:spPr>
          <a:xfrm>
            <a:off x="3268433" y="4310248"/>
            <a:ext cx="1100368" cy="261610"/>
          </a:xfrm>
          <a:prstGeom prst="rect">
            <a:avLst/>
          </a:prstGeom>
          <a:solidFill>
            <a:srgbClr val="F3F4F6"/>
          </a:solidFill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latin typeface="Arial" panose="020B0604020202020204" pitchFamily="34" charset="0"/>
                <a:cs typeface="Arial" panose="020B0604020202020204" pitchFamily="34" charset="0"/>
              </a:rPr>
              <a:t>cleaned</a:t>
            </a:r>
            <a:r>
              <a:rPr lang="zh-TW" altLang="en-US" sz="1100" dirty="0">
                <a:latin typeface="Arial" panose="020B0604020202020204" pitchFamily="34" charset="0"/>
                <a:cs typeface="Arial" panose="020B0604020202020204" pitchFamily="34" charset="0"/>
              </a:rPr>
              <a:t>詞彙量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000" y="1019175"/>
            <a:ext cx="238125" cy="1905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43400" y="1019175"/>
            <a:ext cx="219075" cy="1905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81000" y="2247900"/>
            <a:ext cx="3708350" cy="1557338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5300" y="2362200"/>
            <a:ext cx="3479750" cy="2667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41750" y="2247900"/>
            <a:ext cx="3708350" cy="1557338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356050" y="2362200"/>
            <a:ext cx="3479750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102501" y="2247900"/>
            <a:ext cx="3708499" cy="1557338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216801" y="2362200"/>
            <a:ext cx="3479899" cy="266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381000" y="3957638"/>
            <a:ext cx="3708350" cy="1566863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495300" y="4071938"/>
            <a:ext cx="3479750" cy="266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241750" y="3957638"/>
            <a:ext cx="3708350" cy="1566863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356050" y="4071938"/>
            <a:ext cx="3479750" cy="266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8102501" y="3957638"/>
            <a:ext cx="3708499" cy="1566863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8216801" y="4071938"/>
            <a:ext cx="3479899" cy="266700"/>
          </a:xfrm>
          <a:prstGeom prst="rect">
            <a:avLst/>
          </a:prstGeom>
        </p:spPr>
      </p:pic>
      <p:sp>
        <p:nvSpPr>
          <p:cNvPr id="20" name="Text 0"/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NMF主題模型建立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與示例</a:t>
            </a:r>
            <a:endParaRPr lang="en-US" sz="2700" dirty="0"/>
          </a:p>
        </p:txBody>
      </p:sp>
      <p:sp>
        <p:nvSpPr>
          <p:cNvPr id="21" name="Text 1"/>
          <p:cNvSpPr/>
          <p:nvPr/>
        </p:nvSpPr>
        <p:spPr>
          <a:xfrm>
            <a:off x="695325" y="990600"/>
            <a:ext cx="365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模型選擇</a:t>
            </a:r>
            <a:endParaRPr lang="en-US" sz="1500" dirty="0"/>
          </a:p>
        </p:txBody>
      </p:sp>
      <p:sp>
        <p:nvSpPr>
          <p:cNvPr id="22" name="Text 2"/>
          <p:cNvSpPr/>
          <p:nvPr/>
        </p:nvSpPr>
        <p:spPr>
          <a:xfrm>
            <a:off x="609600" y="1333500"/>
            <a:ext cx="3429000" cy="685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非負矩陣分解（NMF）具有良好的可解釋性，能清晰呈現主題與關鍵字間的權重關係，特別適用於處理TF-IDF生成的非負矩陣。</a:t>
            </a:r>
            <a:endParaRPr lang="en-US" sz="1200" dirty="0"/>
          </a:p>
        </p:txBody>
      </p:sp>
      <p:sp>
        <p:nvSpPr>
          <p:cNvPr id="23" name="Text 3"/>
          <p:cNvSpPr/>
          <p:nvPr/>
        </p:nvSpPr>
        <p:spPr>
          <a:xfrm>
            <a:off x="4638675" y="990600"/>
            <a:ext cx="746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模型驗證</a:t>
            </a:r>
            <a:endParaRPr lang="en-US" sz="1500" dirty="0"/>
          </a:p>
        </p:txBody>
      </p:sp>
      <p:sp>
        <p:nvSpPr>
          <p:cNvPr id="24" name="Text 4"/>
          <p:cNvSpPr/>
          <p:nvPr/>
        </p:nvSpPr>
        <p:spPr>
          <a:xfrm>
            <a:off x="4572000" y="1333500"/>
            <a:ext cx="72390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透過主題相似度矩陣分析，各主题</a:t>
            </a:r>
            <a:r>
              <a:rPr lang="zh-TW" alt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間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相似度普遍</a:t>
            </a:r>
            <a:r>
              <a:rPr lang="zh-TW" alt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較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低，證明NMF模型在主题分群上的有效性，確保了每个主</a:t>
            </a:r>
            <a:r>
              <a:rPr lang="zh-TW" alt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題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都能</a:t>
            </a:r>
            <a:r>
              <a:rPr lang="zh-TW" alt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獨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立且清晰地代表一</a:t>
            </a:r>
            <a:r>
              <a:rPr lang="zh-TW" alt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類</a:t>
            </a:r>
            <a:r>
              <a:rPr lang="en-US" sz="1200" dirty="0" err="1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特定的文本内容</a:t>
            </a:r>
            <a:r>
              <a:rPr lang="en-US" sz="12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。</a:t>
            </a:r>
            <a:endParaRPr lang="en-US" sz="1200" dirty="0"/>
          </a:p>
        </p:txBody>
      </p:sp>
      <p:sp>
        <p:nvSpPr>
          <p:cNvPr id="25" name="Text 5"/>
          <p:cNvSpPr/>
          <p:nvPr/>
        </p:nvSpPr>
        <p:spPr>
          <a:xfrm>
            <a:off x="495300" y="2362200"/>
            <a:ext cx="3479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主題0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數學/哲學</a:t>
            </a:r>
            <a:endParaRPr lang="en-US" sz="1200" dirty="0"/>
          </a:p>
        </p:txBody>
      </p:sp>
      <p:sp>
        <p:nvSpPr>
          <p:cNvPr id="26" name="Text 6"/>
          <p:cNvSpPr/>
          <p:nvPr/>
        </p:nvSpPr>
        <p:spPr>
          <a:xfrm>
            <a:off x="533400" y="2743200"/>
            <a:ext cx="1600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27" name="Text 7"/>
          <p:cNvSpPr/>
          <p:nvPr/>
        </p:nvSpPr>
        <p:spPr>
          <a:xfrm>
            <a:off x="533400" y="2752724"/>
            <a:ext cx="3357830" cy="40005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幾何</a:t>
            </a:r>
            <a:r>
              <a:rPr lang="en-US" altLang="zh-TW" dirty="0">
                <a:solidFill>
                  <a:srgbClr val="308C5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巴黎</a:t>
            </a:r>
            <a:r>
              <a:rPr lang="en-US" altLang="zh-TW" dirty="0">
                <a:solidFill>
                  <a:srgbClr val="308C5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代數</a:t>
            </a:r>
            <a:r>
              <a:rPr lang="en-US" altLang="zh-TW" dirty="0">
                <a:solidFill>
                  <a:srgbClr val="308C5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高等</a:t>
            </a:r>
            <a:r>
              <a:rPr lang="en-US" altLang="zh-TW" dirty="0">
                <a:solidFill>
                  <a:srgbClr val="308C5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論文</a:t>
            </a:r>
            <a:r>
              <a:rPr lang="en-US" altLang="zh-TW" dirty="0">
                <a:solidFill>
                  <a:srgbClr val="308C5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約翰</a:t>
            </a:r>
            <a:r>
              <a:rPr lang="en-US" altLang="zh-TW" dirty="0">
                <a:solidFill>
                  <a:srgbClr val="308C5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哲學</a:t>
            </a:r>
            <a:r>
              <a:rPr lang="en-US" altLang="zh-TW" dirty="0">
                <a:solidFill>
                  <a:srgbClr val="308C5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猜想</a:t>
            </a:r>
            <a:r>
              <a:rPr lang="en-US" altLang="zh-TW" dirty="0">
                <a:solidFill>
                  <a:srgbClr val="308C5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學會</a:t>
            </a:r>
            <a:r>
              <a:rPr lang="en-US" altLang="zh-TW" dirty="0">
                <a:solidFill>
                  <a:srgbClr val="308C59"/>
                </a:solidFill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F0502020204030204" pitchFamily="2" charset="0"/>
                <a:cs typeface="ADLaM Display" panose="020F0502020204030204" pitchFamily="2" charset="0"/>
              </a:rPr>
              <a:t>皇家</a:t>
            </a:r>
            <a:endParaRPr lang="en-US" sz="1200" dirty="0">
              <a:solidFill>
                <a:srgbClr val="308C59"/>
              </a:solidFill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</p:txBody>
      </p:sp>
      <p:sp>
        <p:nvSpPr>
          <p:cNvPr id="31" name="Text 11"/>
          <p:cNvSpPr/>
          <p:nvPr/>
        </p:nvSpPr>
        <p:spPr>
          <a:xfrm>
            <a:off x="2095500" y="2724150"/>
            <a:ext cx="548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800" dirty="0"/>
          </a:p>
        </p:txBody>
      </p:sp>
      <p:sp>
        <p:nvSpPr>
          <p:cNvPr id="32" name="Text 12"/>
          <p:cNvSpPr/>
          <p:nvPr/>
        </p:nvSpPr>
        <p:spPr>
          <a:xfrm>
            <a:off x="2590800" y="2724150"/>
            <a:ext cx="502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650" dirty="0"/>
          </a:p>
        </p:txBody>
      </p:sp>
      <p:sp>
        <p:nvSpPr>
          <p:cNvPr id="33" name="Text 13"/>
          <p:cNvSpPr/>
          <p:nvPr/>
        </p:nvSpPr>
        <p:spPr>
          <a:xfrm>
            <a:off x="3048000" y="2733675"/>
            <a:ext cx="457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500" dirty="0"/>
          </a:p>
        </p:txBody>
      </p:sp>
      <p:sp>
        <p:nvSpPr>
          <p:cNvPr id="34" name="Text 14"/>
          <p:cNvSpPr/>
          <p:nvPr/>
        </p:nvSpPr>
        <p:spPr>
          <a:xfrm>
            <a:off x="3467100" y="2733675"/>
            <a:ext cx="411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36" name="Text 16"/>
          <p:cNvSpPr/>
          <p:nvPr/>
        </p:nvSpPr>
        <p:spPr>
          <a:xfrm>
            <a:off x="4356050" y="2362200"/>
            <a:ext cx="3479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主題</a:t>
            </a:r>
            <a:r>
              <a:rPr lang="en-US" altLang="zh-TW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– </a:t>
            </a:r>
            <a:r>
              <a:rPr lang="zh-TW" alt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政治</a:t>
            </a:r>
            <a:endParaRPr lang="en-US" sz="1200" dirty="0"/>
          </a:p>
        </p:txBody>
      </p:sp>
      <p:sp>
        <p:nvSpPr>
          <p:cNvPr id="37" name="Text 17"/>
          <p:cNvSpPr/>
          <p:nvPr/>
        </p:nvSpPr>
        <p:spPr>
          <a:xfrm>
            <a:off x="4394150" y="2743200"/>
            <a:ext cx="2668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38" name="Text 18"/>
          <p:cNvSpPr/>
          <p:nvPr/>
        </p:nvSpPr>
        <p:spPr>
          <a:xfrm>
            <a:off x="4654600" y="2752725"/>
            <a:ext cx="14233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39" name="Text 19"/>
          <p:cNvSpPr/>
          <p:nvPr/>
        </p:nvSpPr>
        <p:spPr>
          <a:xfrm>
            <a:off x="4811316" y="2733675"/>
            <a:ext cx="34307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40" name="Text 20"/>
          <p:cNvSpPr/>
          <p:nvPr/>
        </p:nvSpPr>
        <p:spPr>
          <a:xfrm>
            <a:off x="5135314" y="2733675"/>
            <a:ext cx="43201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500" dirty="0"/>
          </a:p>
        </p:txBody>
      </p:sp>
      <p:sp>
        <p:nvSpPr>
          <p:cNvPr id="41" name="Text 21"/>
          <p:cNvSpPr/>
          <p:nvPr/>
        </p:nvSpPr>
        <p:spPr>
          <a:xfrm>
            <a:off x="4394150" y="2724149"/>
            <a:ext cx="3380691" cy="266699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term,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大臣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總統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總理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民主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議員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內閣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選舉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部長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眾議院</a:t>
            </a:r>
            <a:endParaRPr lang="en-US" sz="1650" dirty="0">
              <a:solidFill>
                <a:srgbClr val="4D038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42" name="Text 22"/>
          <p:cNvSpPr/>
          <p:nvPr/>
        </p:nvSpPr>
        <p:spPr>
          <a:xfrm>
            <a:off x="5990630" y="2724150"/>
            <a:ext cx="35075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800" dirty="0"/>
          </a:p>
        </p:txBody>
      </p:sp>
      <p:sp>
        <p:nvSpPr>
          <p:cNvPr id="43" name="Text 23"/>
          <p:cNvSpPr/>
          <p:nvPr/>
        </p:nvSpPr>
        <p:spPr>
          <a:xfrm>
            <a:off x="6321028" y="2724150"/>
            <a:ext cx="391478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650" dirty="0"/>
          </a:p>
        </p:txBody>
      </p:sp>
      <p:sp>
        <p:nvSpPr>
          <p:cNvPr id="44" name="Text 24"/>
          <p:cNvSpPr/>
          <p:nvPr/>
        </p:nvSpPr>
        <p:spPr>
          <a:xfrm>
            <a:off x="6685359" y="2733675"/>
            <a:ext cx="24145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500" dirty="0"/>
          </a:p>
        </p:txBody>
      </p:sp>
      <p:sp>
        <p:nvSpPr>
          <p:cNvPr id="45" name="Text 25"/>
          <p:cNvSpPr/>
          <p:nvPr/>
        </p:nvSpPr>
        <p:spPr>
          <a:xfrm>
            <a:off x="6924675" y="2733675"/>
            <a:ext cx="38897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46" name="Text 26"/>
          <p:cNvSpPr/>
          <p:nvPr/>
        </p:nvSpPr>
        <p:spPr>
          <a:xfrm>
            <a:off x="7286923" y="2752725"/>
            <a:ext cx="365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47" name="Text 27"/>
          <p:cNvSpPr/>
          <p:nvPr/>
        </p:nvSpPr>
        <p:spPr>
          <a:xfrm>
            <a:off x="8216801" y="2362200"/>
            <a:ext cx="347989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主題2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總體經濟</a:t>
            </a:r>
            <a:endParaRPr lang="en-US" sz="1200" dirty="0"/>
          </a:p>
        </p:txBody>
      </p:sp>
      <p:sp>
        <p:nvSpPr>
          <p:cNvPr id="49" name="Text 29"/>
          <p:cNvSpPr/>
          <p:nvPr/>
        </p:nvSpPr>
        <p:spPr>
          <a:xfrm>
            <a:off x="8234778" y="2752724"/>
            <a:ext cx="3380543" cy="804863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en-US" altLang="zh-TW" dirty="0" err="1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gdp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人均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購買力平價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本幣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比重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總值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位次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人民幣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全省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推算</a:t>
            </a:r>
            <a:endParaRPr lang="en-US" sz="1200" dirty="0">
              <a:solidFill>
                <a:srgbClr val="FFA17C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54" name="Text 34"/>
          <p:cNvSpPr/>
          <p:nvPr/>
        </p:nvSpPr>
        <p:spPr>
          <a:xfrm>
            <a:off x="10934849" y="2724150"/>
            <a:ext cx="502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650" dirty="0"/>
          </a:p>
        </p:txBody>
      </p:sp>
      <p:sp>
        <p:nvSpPr>
          <p:cNvPr id="58" name="Text 38"/>
          <p:cNvSpPr/>
          <p:nvPr/>
        </p:nvSpPr>
        <p:spPr>
          <a:xfrm>
            <a:off x="495300" y="4071938"/>
            <a:ext cx="3479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主題3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學術機構/人物</a:t>
            </a:r>
            <a:endParaRPr lang="en-US" sz="1200" dirty="0"/>
          </a:p>
        </p:txBody>
      </p:sp>
      <p:sp>
        <p:nvSpPr>
          <p:cNvPr id="62" name="Text 42"/>
          <p:cNvSpPr/>
          <p:nvPr/>
        </p:nvSpPr>
        <p:spPr>
          <a:xfrm>
            <a:off x="576679" y="4443412"/>
            <a:ext cx="3301901" cy="466726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中國科學院</a:t>
            </a:r>
            <a:r>
              <a:rPr lang="en-US" altLang="zh-TW" dirty="0">
                <a:solidFill>
                  <a:srgbClr val="308C59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院士</a:t>
            </a:r>
            <a:r>
              <a:rPr lang="en-US" altLang="zh-TW" dirty="0">
                <a:solidFill>
                  <a:srgbClr val="308C59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當選為</a:t>
            </a:r>
            <a:r>
              <a:rPr lang="en-US" altLang="zh-TW" dirty="0">
                <a:solidFill>
                  <a:srgbClr val="308C59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物理系</a:t>
            </a:r>
            <a:r>
              <a:rPr lang="en-US" altLang="zh-TW" dirty="0">
                <a:solidFill>
                  <a:srgbClr val="308C59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北京大學</a:t>
            </a:r>
            <a:r>
              <a:rPr lang="en-US" altLang="zh-TW" dirty="0">
                <a:solidFill>
                  <a:srgbClr val="308C59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所長</a:t>
            </a:r>
            <a:r>
              <a:rPr lang="en-US" altLang="zh-TW" dirty="0">
                <a:solidFill>
                  <a:srgbClr val="308C59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部委</a:t>
            </a:r>
            <a:r>
              <a:rPr lang="en-US" altLang="zh-TW" dirty="0">
                <a:solidFill>
                  <a:srgbClr val="308C59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學部</a:t>
            </a:r>
            <a:r>
              <a:rPr lang="en-US" altLang="zh-TW" dirty="0">
                <a:solidFill>
                  <a:srgbClr val="308C59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清華大學</a:t>
            </a:r>
            <a:r>
              <a:rPr lang="en-US" altLang="zh-TW" dirty="0">
                <a:solidFill>
                  <a:srgbClr val="308C59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308C59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曾任</a:t>
            </a:r>
            <a:endParaRPr lang="en-US" sz="1500" dirty="0">
              <a:solidFill>
                <a:srgbClr val="308C59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63" name="Text 43"/>
          <p:cNvSpPr/>
          <p:nvPr/>
        </p:nvSpPr>
        <p:spPr>
          <a:xfrm>
            <a:off x="2743200" y="4433888"/>
            <a:ext cx="10058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650" dirty="0"/>
          </a:p>
        </p:txBody>
      </p:sp>
      <p:sp>
        <p:nvSpPr>
          <p:cNvPr id="68" name="Text 48"/>
          <p:cNvSpPr/>
          <p:nvPr/>
        </p:nvSpPr>
        <p:spPr>
          <a:xfrm>
            <a:off x="2286000" y="4719638"/>
            <a:ext cx="7315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69" name="Text 49"/>
          <p:cNvSpPr/>
          <p:nvPr/>
        </p:nvSpPr>
        <p:spPr>
          <a:xfrm>
            <a:off x="4356050" y="4071938"/>
            <a:ext cx="34797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主題4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證券市場/金融</a:t>
            </a:r>
            <a:endParaRPr lang="en-US" sz="1200" dirty="0"/>
          </a:p>
        </p:txBody>
      </p:sp>
      <p:sp>
        <p:nvSpPr>
          <p:cNvPr id="74" name="Text 54"/>
          <p:cNvSpPr/>
          <p:nvPr/>
        </p:nvSpPr>
        <p:spPr>
          <a:xfrm>
            <a:off x="4373881" y="4433888"/>
            <a:ext cx="3400960" cy="47625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證券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控股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股票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收購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業務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資產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上市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億元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旗下</a:t>
            </a:r>
            <a:r>
              <a:rPr lang="en-US" altLang="zh-TW" dirty="0">
                <a:solidFill>
                  <a:srgbClr val="4D0384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4D0384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港元</a:t>
            </a:r>
            <a:endParaRPr lang="en-US" sz="1650" dirty="0">
              <a:solidFill>
                <a:srgbClr val="4D0384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0" name="Text 60"/>
          <p:cNvSpPr/>
          <p:nvPr/>
        </p:nvSpPr>
        <p:spPr>
          <a:xfrm>
            <a:off x="8216801" y="4071938"/>
            <a:ext cx="41758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主題5</a:t>
            </a: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城市規劃/房地產</a:t>
            </a:r>
            <a:endParaRPr lang="en-US" sz="1200" dirty="0"/>
          </a:p>
        </p:txBody>
      </p:sp>
      <p:sp>
        <p:nvSpPr>
          <p:cNvPr id="81" name="Text 61"/>
          <p:cNvSpPr/>
          <p:nvPr/>
        </p:nvSpPr>
        <p:spPr>
          <a:xfrm>
            <a:off x="8254901" y="4452938"/>
            <a:ext cx="3200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050" dirty="0"/>
          </a:p>
        </p:txBody>
      </p:sp>
      <p:sp>
        <p:nvSpPr>
          <p:cNvPr id="82" name="Text 62"/>
          <p:cNvSpPr/>
          <p:nvPr/>
        </p:nvSpPr>
        <p:spPr>
          <a:xfrm>
            <a:off x="8559701" y="4462463"/>
            <a:ext cx="548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200" dirty="0"/>
          </a:p>
        </p:txBody>
      </p:sp>
      <p:sp>
        <p:nvSpPr>
          <p:cNvPr id="83" name="Text 63"/>
          <p:cNvSpPr/>
          <p:nvPr/>
        </p:nvSpPr>
        <p:spPr>
          <a:xfrm>
            <a:off x="9055001" y="4443413"/>
            <a:ext cx="411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84" name="Text 64"/>
          <p:cNvSpPr/>
          <p:nvPr/>
        </p:nvSpPr>
        <p:spPr>
          <a:xfrm>
            <a:off x="9436001" y="4443413"/>
            <a:ext cx="457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500" dirty="0"/>
          </a:p>
        </p:txBody>
      </p:sp>
      <p:sp>
        <p:nvSpPr>
          <p:cNvPr id="85" name="Text 65"/>
          <p:cNvSpPr/>
          <p:nvPr/>
        </p:nvSpPr>
        <p:spPr>
          <a:xfrm>
            <a:off x="8254901" y="4433888"/>
            <a:ext cx="3360420" cy="114301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1500"/>
              </a:lnSpc>
            </a:pP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公裡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開發區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街道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平方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經濟技術開發區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鐵路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區劃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規劃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天津</a:t>
            </a:r>
            <a:r>
              <a:rPr lang="en-US" altLang="zh-TW" dirty="0">
                <a:solidFill>
                  <a:srgbClr val="FFA17C"/>
                </a:solidFill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, </a:t>
            </a:r>
            <a:r>
              <a:rPr lang="zh-TW" altLang="en-US" dirty="0">
                <a:solidFill>
                  <a:srgbClr val="FFA17C"/>
                </a:solidFill>
                <a:latin typeface="ADLaM Display" panose="02010000000000000000" pitchFamily="2" charset="0"/>
                <a:cs typeface="ADLaM Display" panose="02010000000000000000" pitchFamily="2" charset="0"/>
              </a:rPr>
              <a:t>億元</a:t>
            </a:r>
            <a:endParaRPr lang="en-US" sz="1650" dirty="0">
              <a:solidFill>
                <a:srgbClr val="FFA17C"/>
              </a:solidFill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86" name="Text 66"/>
          <p:cNvSpPr/>
          <p:nvPr/>
        </p:nvSpPr>
        <p:spPr>
          <a:xfrm>
            <a:off x="8254901" y="4691063"/>
            <a:ext cx="5486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800" dirty="0"/>
          </a:p>
        </p:txBody>
      </p:sp>
      <p:sp>
        <p:nvSpPr>
          <p:cNvPr id="87" name="Text 67"/>
          <p:cNvSpPr/>
          <p:nvPr/>
        </p:nvSpPr>
        <p:spPr>
          <a:xfrm>
            <a:off x="8750201" y="4691063"/>
            <a:ext cx="5029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650" dirty="0"/>
          </a:p>
        </p:txBody>
      </p:sp>
      <p:sp>
        <p:nvSpPr>
          <p:cNvPr id="88" name="Text 68"/>
          <p:cNvSpPr/>
          <p:nvPr/>
        </p:nvSpPr>
        <p:spPr>
          <a:xfrm>
            <a:off x="9207401" y="4700588"/>
            <a:ext cx="457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500" dirty="0"/>
          </a:p>
        </p:txBody>
      </p:sp>
      <p:sp>
        <p:nvSpPr>
          <p:cNvPr id="89" name="Text 69"/>
          <p:cNvSpPr/>
          <p:nvPr/>
        </p:nvSpPr>
        <p:spPr>
          <a:xfrm>
            <a:off x="9626501" y="4700588"/>
            <a:ext cx="4114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350" dirty="0"/>
          </a:p>
        </p:txBody>
      </p:sp>
      <p:sp>
        <p:nvSpPr>
          <p:cNvPr id="90" name="Text 70"/>
          <p:cNvSpPr/>
          <p:nvPr/>
        </p:nvSpPr>
        <p:spPr>
          <a:xfrm>
            <a:off x="10007501" y="4719638"/>
            <a:ext cx="3657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59C28FA6-30D0-296D-28E6-A5FE5823B8E2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資料分析涵蓋範圍 與 關鍵字示例</a:t>
            </a:r>
            <a:endParaRPr lang="en-US" sz="2700" dirty="0"/>
          </a:p>
        </p:txBody>
      </p:sp>
      <p:pic>
        <p:nvPicPr>
          <p:cNvPr id="4" name="圖片 3" descr="一張含有 螢幕擷取畫面, 文字 的圖片&#10;&#10;AI 產生的內容可能不正確。">
            <a:extLst>
              <a:ext uri="{FF2B5EF4-FFF2-40B4-BE49-F238E27FC236}">
                <a16:creationId xmlns:a16="http://schemas.microsoft.com/office/drawing/2014/main" id="{641A669B-130D-61D5-3131-0C9AA35F3C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720" y="886142"/>
            <a:ext cx="7218680" cy="58481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65486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446EDC-C699-7BD7-76A1-BF990E6C4F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extLst>
              <a:ext uri="{FF2B5EF4-FFF2-40B4-BE49-F238E27FC236}">
                <a16:creationId xmlns:a16="http://schemas.microsoft.com/office/drawing/2014/main" id="{713D4E06-E03D-82D6-5050-A6790BAC9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-1"/>
            <a:ext cx="12191999" cy="6857999"/>
          </a:xfrm>
          <a:prstGeom prst="rect">
            <a:avLst/>
          </a:prstGeom>
        </p:spPr>
      </p:pic>
      <p:pic>
        <p:nvPicPr>
          <p:cNvPr id="3" name="Image 1" descr="preencoded.png">
            <a:extLst>
              <a:ext uri="{FF2B5EF4-FFF2-40B4-BE49-F238E27FC236}">
                <a16:creationId xmlns:a16="http://schemas.microsoft.com/office/drawing/2014/main" id="{B5D21409-89C2-D63B-09FE-3FB297FF23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85400" y="5729288"/>
            <a:ext cx="2006599" cy="1128712"/>
          </a:xfrm>
          <a:prstGeom prst="rect">
            <a:avLst/>
          </a:prstGeom>
        </p:spPr>
      </p:pic>
      <p:sp>
        <p:nvSpPr>
          <p:cNvPr id="20" name="Text 0">
            <a:extLst>
              <a:ext uri="{FF2B5EF4-FFF2-40B4-BE49-F238E27FC236}">
                <a16:creationId xmlns:a16="http://schemas.microsoft.com/office/drawing/2014/main" id="{5B5634EF-5DDD-D4DC-C79C-8B10DE167BE7}"/>
              </a:ext>
            </a:extLst>
          </p:cNvPr>
          <p:cNvSpPr/>
          <p:nvPr/>
        </p:nvSpPr>
        <p:spPr>
          <a:xfrm>
            <a:off x="381000" y="3810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 err="1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NMF主題模型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相似度</a:t>
            </a:r>
            <a:endParaRPr lang="en-US" sz="2700" dirty="0"/>
          </a:p>
        </p:txBody>
      </p:sp>
      <p:sp>
        <p:nvSpPr>
          <p:cNvPr id="23" name="Text 3">
            <a:extLst>
              <a:ext uri="{FF2B5EF4-FFF2-40B4-BE49-F238E27FC236}">
                <a16:creationId xmlns:a16="http://schemas.microsoft.com/office/drawing/2014/main" id="{A99CDF2E-6611-600C-0F78-5642C774CF5F}"/>
              </a:ext>
            </a:extLst>
          </p:cNvPr>
          <p:cNvSpPr/>
          <p:nvPr/>
        </p:nvSpPr>
        <p:spPr>
          <a:xfrm>
            <a:off x="4638675" y="990600"/>
            <a:ext cx="746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endParaRPr lang="en-US" sz="1500" dirty="0"/>
          </a:p>
        </p:txBody>
      </p:sp>
      <p:sp>
        <p:nvSpPr>
          <p:cNvPr id="80" name="Text 60">
            <a:extLst>
              <a:ext uri="{FF2B5EF4-FFF2-40B4-BE49-F238E27FC236}">
                <a16:creationId xmlns:a16="http://schemas.microsoft.com/office/drawing/2014/main" id="{C09E3352-A4FC-9FF3-8BD8-5FF325595E39}"/>
              </a:ext>
            </a:extLst>
          </p:cNvPr>
          <p:cNvSpPr/>
          <p:nvPr/>
        </p:nvSpPr>
        <p:spPr>
          <a:xfrm>
            <a:off x="8216801" y="4071938"/>
            <a:ext cx="4175879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endParaRPr lang="en-US" sz="1200" dirty="0"/>
          </a:p>
        </p:txBody>
      </p:sp>
      <p:pic>
        <p:nvPicPr>
          <p:cNvPr id="29" name="圖片 28">
            <a:extLst>
              <a:ext uri="{FF2B5EF4-FFF2-40B4-BE49-F238E27FC236}">
                <a16:creationId xmlns:a16="http://schemas.microsoft.com/office/drawing/2014/main" id="{21C9E325-3C5E-F5EB-B95C-54DFE8B6A41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3598" y="1033462"/>
            <a:ext cx="6143625" cy="5210175"/>
          </a:xfrm>
          <a:prstGeom prst="rect">
            <a:avLst/>
          </a:prstGeom>
        </p:spPr>
      </p:pic>
      <p:sp>
        <p:nvSpPr>
          <p:cNvPr id="53" name="文字方塊 52">
            <a:extLst>
              <a:ext uri="{FF2B5EF4-FFF2-40B4-BE49-F238E27FC236}">
                <a16:creationId xmlns:a16="http://schemas.microsoft.com/office/drawing/2014/main" id="{9DF7EEFA-C45C-B092-3D98-B325C783A2D4}"/>
              </a:ext>
            </a:extLst>
          </p:cNvPr>
          <p:cNvSpPr txBox="1"/>
          <p:nvPr/>
        </p:nvSpPr>
        <p:spPr>
          <a:xfrm>
            <a:off x="6848424" y="2851247"/>
            <a:ext cx="51523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主題相似度矩陣顯示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 大多主題間相似度偏低</a:t>
            </a:r>
            <a:endParaRPr lang="en-US" altLang="zh-TW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可推論</a:t>
            </a:r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r>
              <a:rPr lang="zh-TW" altLang="en-US" dirty="0">
                <a:latin typeface="Arial" panose="020B0604020202020204" pitchFamily="34" charset="0"/>
                <a:cs typeface="Arial" panose="020B0604020202020204" pitchFamily="34" charset="0"/>
              </a:rPr>
              <a:t>個主題間語意重疊度低，</a:t>
            </a:r>
            <a:r>
              <a:rPr lang="zh-TW" altLang="en-US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分群效果良好</a:t>
            </a:r>
          </a:p>
        </p:txBody>
      </p:sp>
      <p:grpSp>
        <p:nvGrpSpPr>
          <p:cNvPr id="59" name="群組 58">
            <a:extLst>
              <a:ext uri="{FF2B5EF4-FFF2-40B4-BE49-F238E27FC236}">
                <a16:creationId xmlns:a16="http://schemas.microsoft.com/office/drawing/2014/main" id="{E5164BB1-F634-9794-0D8C-E9E0BBE0E61F}"/>
              </a:ext>
            </a:extLst>
          </p:cNvPr>
          <p:cNvGrpSpPr/>
          <p:nvPr/>
        </p:nvGrpSpPr>
        <p:grpSpPr>
          <a:xfrm>
            <a:off x="6915167" y="3836536"/>
            <a:ext cx="6056620" cy="737504"/>
            <a:chOff x="6779768" y="5600700"/>
            <a:chExt cx="6056620" cy="737504"/>
          </a:xfrm>
        </p:grpSpPr>
        <p:sp>
          <p:nvSpPr>
            <p:cNvPr id="55" name="Text 72"/>
            <p:cNvSpPr/>
            <p:nvPr/>
          </p:nvSpPr>
          <p:spPr>
            <a:xfrm>
              <a:off x="6779768" y="5881004"/>
              <a:ext cx="5152373" cy="4572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NMF模型成功將文本資料分群為</a:t>
              </a:r>
              <a:r>
                <a:rPr lang="en-US" sz="1200" b="1" dirty="0">
                  <a:solidFill>
                    <a:srgbClr val="581C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15個主題</a:t>
              </a:r>
              <a:r>
                <a:rPr lang="en-US" sz="12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，每個主題由一組權重最高的關鍵字代表，展現了</a:t>
              </a:r>
              <a:r>
                <a:rPr lang="en-US" sz="1200" b="1" dirty="0">
                  <a:solidFill>
                    <a:srgbClr val="1580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高內聚、低耦合</a:t>
              </a:r>
              <a:r>
                <a:rPr lang="en-US" sz="12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的特性。</a:t>
              </a:r>
              <a:endParaRPr lang="en-US" sz="1200" dirty="0"/>
            </a:p>
          </p:txBody>
        </p:sp>
        <p:pic>
          <p:nvPicPr>
            <p:cNvPr id="56" name="Image 16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779768" y="5634038"/>
              <a:ext cx="219075" cy="190500"/>
            </a:xfrm>
            <a:prstGeom prst="rect">
              <a:avLst/>
            </a:prstGeom>
          </p:spPr>
        </p:pic>
        <p:sp>
          <p:nvSpPr>
            <p:cNvPr id="57" name="Text 71"/>
            <p:cNvSpPr/>
            <p:nvPr/>
          </p:nvSpPr>
          <p:spPr>
            <a:xfrm>
              <a:off x="7121388" y="5600700"/>
              <a:ext cx="57150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b="1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分群成果</a:t>
              </a:r>
              <a:endParaRPr lang="en-US" sz="1500" dirty="0"/>
            </a:p>
          </p:txBody>
        </p:sp>
      </p:grpSp>
    </p:spTree>
    <p:extLst>
      <p:ext uri="{BB962C8B-B14F-4D97-AF65-F5344CB8AC3E}">
        <p14:creationId xmlns:p14="http://schemas.microsoft.com/office/powerpoint/2010/main" val="16818346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FA262E4-3FB2-C145-B727-5A838437E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>
            <a:extLst>
              <a:ext uri="{FF2B5EF4-FFF2-40B4-BE49-F238E27FC236}">
                <a16:creationId xmlns:a16="http://schemas.microsoft.com/office/drawing/2014/main" id="{5E003FAF-786D-8458-6482-A20A0740652C}"/>
              </a:ext>
            </a:extLst>
          </p:cNvPr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詞</a:t>
            </a:r>
            <a:r>
              <a:rPr lang="en-US" sz="2700" b="1" dirty="0" err="1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關聯性分析成果</a:t>
            </a:r>
            <a:endParaRPr lang="en-US" sz="27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FB93D3A6-243A-EE14-02BC-30A333BEA895}"/>
              </a:ext>
            </a:extLst>
          </p:cNvPr>
          <p:cNvSpPr/>
          <p:nvPr/>
        </p:nvSpPr>
        <p:spPr>
          <a:xfrm>
            <a:off x="533400" y="1066800"/>
            <a:ext cx="1127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以</a:t>
            </a:r>
            <a:r>
              <a:rPr lang="en-US" sz="1800" b="1" dirty="0">
                <a:solidFill>
                  <a:srgbClr val="FFA0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「黃金」</a:t>
            </a:r>
            <a:r>
              <a:rPr lang="en-US" sz="15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為核心關鍵字，進行相似度分析，識別相關詞彙並歸類</a:t>
            </a:r>
            <a:endParaRPr lang="en-US" sz="1500" dirty="0"/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1E75D7BE-B2D3-8A33-8D15-1F4F8344FEE3}"/>
              </a:ext>
            </a:extLst>
          </p:cNvPr>
          <p:cNvSpPr/>
          <p:nvPr/>
        </p:nvSpPr>
        <p:spPr>
          <a:xfrm>
            <a:off x="6515100" y="4762500"/>
            <a:ext cx="6355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endParaRPr lang="en-US" sz="1200" dirty="0"/>
          </a:p>
        </p:txBody>
      </p:sp>
      <p:sp>
        <p:nvSpPr>
          <p:cNvPr id="47" name="Text 20">
            <a:extLst>
              <a:ext uri="{FF2B5EF4-FFF2-40B4-BE49-F238E27FC236}">
                <a16:creationId xmlns:a16="http://schemas.microsoft.com/office/drawing/2014/main" id="{1F1730BE-048B-CE87-3F34-BF0EC4CF7B86}"/>
              </a:ext>
            </a:extLst>
          </p:cNvPr>
          <p:cNvSpPr/>
          <p:nvPr/>
        </p:nvSpPr>
        <p:spPr>
          <a:xfrm>
            <a:off x="6515100" y="5372100"/>
            <a:ext cx="635508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algn="l">
              <a:lnSpc>
                <a:spcPts val="1800"/>
              </a:lnSpc>
              <a:buSzPct val="100000"/>
            </a:pPr>
            <a:endParaRPr lang="en-US" sz="1200" dirty="0"/>
          </a:p>
        </p:txBody>
      </p:sp>
      <p:pic>
        <p:nvPicPr>
          <p:cNvPr id="12" name="圖片 11" descr="一張含有 文字, 螢幕擷取畫面, 字型, 設計 的圖片&#10;&#10;AI 產生的內容可能不正確。">
            <a:extLst>
              <a:ext uri="{FF2B5EF4-FFF2-40B4-BE49-F238E27FC236}">
                <a16:creationId xmlns:a16="http://schemas.microsoft.com/office/drawing/2014/main" id="{10CD9D93-E80A-B989-38BC-6C6DB3B05BC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4828" y="124262"/>
            <a:ext cx="1996807" cy="2159198"/>
          </a:xfrm>
          <a:prstGeom prst="rect">
            <a:avLst/>
          </a:prstGeom>
        </p:spPr>
      </p:pic>
      <p:grpSp>
        <p:nvGrpSpPr>
          <p:cNvPr id="50" name="群組 49">
            <a:extLst>
              <a:ext uri="{FF2B5EF4-FFF2-40B4-BE49-F238E27FC236}">
                <a16:creationId xmlns:a16="http://schemas.microsoft.com/office/drawing/2014/main" id="{B015163E-1AEC-6FA7-3E7D-DA2B0D5F008E}"/>
              </a:ext>
            </a:extLst>
          </p:cNvPr>
          <p:cNvGrpSpPr/>
          <p:nvPr/>
        </p:nvGrpSpPr>
        <p:grpSpPr>
          <a:xfrm>
            <a:off x="580728" y="1711960"/>
            <a:ext cx="5715000" cy="5024120"/>
            <a:chOff x="6324600" y="1524000"/>
            <a:chExt cx="5715000" cy="5024120"/>
          </a:xfrm>
        </p:grpSpPr>
        <p:pic>
          <p:nvPicPr>
            <p:cNvPr id="13" name="Image 3" descr="preencoded.png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324600" y="1543050"/>
              <a:ext cx="228600" cy="228600"/>
            </a:xfrm>
            <a:prstGeom prst="rect">
              <a:avLst/>
            </a:prstGeom>
          </p:spPr>
        </p:pic>
        <p:pic>
          <p:nvPicPr>
            <p:cNvPr id="34" name="Image 4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24600" y="1943100"/>
              <a:ext cx="5410200" cy="1009650"/>
            </a:xfrm>
            <a:prstGeom prst="rect">
              <a:avLst/>
            </a:prstGeom>
          </p:spPr>
        </p:pic>
        <p:pic>
          <p:nvPicPr>
            <p:cNvPr id="35" name="Image 5" descr="preencoded.png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6477000" y="2124075"/>
              <a:ext cx="190500" cy="190500"/>
            </a:xfrm>
            <a:prstGeom prst="rect">
              <a:avLst/>
            </a:prstGeom>
          </p:spPr>
        </p:pic>
        <p:pic>
          <p:nvPicPr>
            <p:cNvPr id="36" name="Image 6" descr="preencoded.png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6505575" y="2466975"/>
              <a:ext cx="495300" cy="304800"/>
            </a:xfrm>
            <a:prstGeom prst="rect">
              <a:avLst/>
            </a:prstGeom>
          </p:spPr>
        </p:pic>
        <p:pic>
          <p:nvPicPr>
            <p:cNvPr id="51" name="Image 7" descr="preencoded.png"/>
            <p:cNvPicPr>
              <a:picLocks noChangeAspect="1"/>
            </p:cNvPicPr>
            <p:nvPr/>
          </p:nvPicPr>
          <p:blipFill>
            <a:blip r:embed="rId9"/>
            <a:stretch>
              <a:fillRect/>
            </a:stretch>
          </p:blipFill>
          <p:spPr>
            <a:xfrm>
              <a:off x="7058025" y="2466975"/>
              <a:ext cx="495300" cy="304800"/>
            </a:xfrm>
            <a:prstGeom prst="rect">
              <a:avLst/>
            </a:prstGeom>
          </p:spPr>
        </p:pic>
        <p:pic>
          <p:nvPicPr>
            <p:cNvPr id="52" name="Image 8" descr="preencoded.png"/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>
              <a:off x="7610475" y="2466975"/>
              <a:ext cx="495300" cy="304800"/>
            </a:xfrm>
            <a:prstGeom prst="rect">
              <a:avLst/>
            </a:prstGeom>
          </p:spPr>
        </p:pic>
        <p:pic>
          <p:nvPicPr>
            <p:cNvPr id="53" name="Image 12" descr="preencoded.png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6324600" y="3105150"/>
              <a:ext cx="5410200" cy="1009650"/>
            </a:xfrm>
            <a:prstGeom prst="rect">
              <a:avLst/>
            </a:prstGeom>
          </p:spPr>
        </p:pic>
        <p:pic>
          <p:nvPicPr>
            <p:cNvPr id="54" name="Image 13" descr="preencoded.png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477000" y="3286125"/>
              <a:ext cx="190500" cy="190500"/>
            </a:xfrm>
            <a:prstGeom prst="rect">
              <a:avLst/>
            </a:prstGeom>
          </p:spPr>
        </p:pic>
        <p:pic>
          <p:nvPicPr>
            <p:cNvPr id="55" name="Image 14" descr="preencoded.png"/>
            <p:cNvPicPr>
              <a:picLocks noChangeAspect="1"/>
            </p:cNvPicPr>
            <p:nvPr/>
          </p:nvPicPr>
          <p:blipFill>
            <a:blip r:embed="rId12"/>
            <a:stretch>
              <a:fillRect/>
            </a:stretch>
          </p:blipFill>
          <p:spPr>
            <a:xfrm>
              <a:off x="6505575" y="3629025"/>
              <a:ext cx="495300" cy="304800"/>
            </a:xfrm>
            <a:prstGeom prst="rect">
              <a:avLst/>
            </a:prstGeom>
          </p:spPr>
        </p:pic>
        <p:pic>
          <p:nvPicPr>
            <p:cNvPr id="56" name="Image 15" descr="preencoded.png"/>
            <p:cNvPicPr>
              <a:picLocks noChangeAspect="1"/>
            </p:cNvPicPr>
            <p:nvPr/>
          </p:nvPicPr>
          <p:blipFill>
            <a:blip r:embed="rId13"/>
            <a:stretch>
              <a:fillRect/>
            </a:stretch>
          </p:blipFill>
          <p:spPr>
            <a:xfrm>
              <a:off x="7058025" y="3629025"/>
              <a:ext cx="495300" cy="304800"/>
            </a:xfrm>
            <a:prstGeom prst="rect">
              <a:avLst/>
            </a:prstGeom>
          </p:spPr>
        </p:pic>
        <p:pic>
          <p:nvPicPr>
            <p:cNvPr id="57" name="Image 16" descr="preencoded.png"/>
            <p:cNvPicPr>
              <a:picLocks noChangeAspect="1"/>
            </p:cNvPicPr>
            <p:nvPr/>
          </p:nvPicPr>
          <p:blipFill>
            <a:blip r:embed="rId14"/>
            <a:stretch>
              <a:fillRect/>
            </a:stretch>
          </p:blipFill>
          <p:spPr>
            <a:xfrm>
              <a:off x="7610475" y="3629025"/>
              <a:ext cx="495300" cy="304800"/>
            </a:xfrm>
            <a:prstGeom prst="rect">
              <a:avLst/>
            </a:prstGeom>
          </p:spPr>
        </p:pic>
        <p:pic>
          <p:nvPicPr>
            <p:cNvPr id="58" name="Image 17" descr="preencoded.png"/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8162925" y="3629025"/>
              <a:ext cx="495300" cy="304800"/>
            </a:xfrm>
            <a:prstGeom prst="rect">
              <a:avLst/>
            </a:prstGeom>
          </p:spPr>
        </p:pic>
        <p:pic>
          <p:nvPicPr>
            <p:cNvPr id="59" name="Image 18" descr="preencoded.png"/>
            <p:cNvPicPr>
              <a:picLocks noChangeAspect="1"/>
            </p:cNvPicPr>
            <p:nvPr/>
          </p:nvPicPr>
          <p:blipFill>
            <a:blip r:embed="rId16"/>
            <a:stretch>
              <a:fillRect/>
            </a:stretch>
          </p:blipFill>
          <p:spPr>
            <a:xfrm>
              <a:off x="8715375" y="3629025"/>
              <a:ext cx="495300" cy="304800"/>
            </a:xfrm>
            <a:prstGeom prst="rect">
              <a:avLst/>
            </a:prstGeom>
          </p:spPr>
        </p:pic>
        <p:pic>
          <p:nvPicPr>
            <p:cNvPr id="60" name="Image 19" descr="preencoded.png"/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267825" y="3640352"/>
              <a:ext cx="495300" cy="304800"/>
            </a:xfrm>
            <a:prstGeom prst="rect">
              <a:avLst/>
            </a:prstGeom>
          </p:spPr>
        </p:pic>
        <p:pic>
          <p:nvPicPr>
            <p:cNvPr id="61" name="Image 20" descr="preencoded.png"/>
            <p:cNvPicPr>
              <a:picLocks noChangeAspect="1"/>
            </p:cNvPicPr>
            <p:nvPr/>
          </p:nvPicPr>
          <p:blipFill>
            <a:blip r:embed="rId18"/>
            <a:stretch>
              <a:fillRect/>
            </a:stretch>
          </p:blipFill>
          <p:spPr>
            <a:xfrm>
              <a:off x="6324600" y="4187872"/>
              <a:ext cx="5410200" cy="2360248"/>
            </a:xfrm>
            <a:prstGeom prst="rect">
              <a:avLst/>
            </a:prstGeom>
          </p:spPr>
        </p:pic>
        <p:pic>
          <p:nvPicPr>
            <p:cNvPr id="62" name="Image 21" descr="preencoded.png"/>
            <p:cNvPicPr>
              <a:picLocks noChangeAspect="1"/>
            </p:cNvPicPr>
            <p:nvPr/>
          </p:nvPicPr>
          <p:blipFill>
            <a:blip r:embed="rId19"/>
            <a:stretch>
              <a:fillRect/>
            </a:stretch>
          </p:blipFill>
          <p:spPr>
            <a:xfrm>
              <a:off x="6477000" y="4448175"/>
              <a:ext cx="142875" cy="190500"/>
            </a:xfrm>
            <a:prstGeom prst="rect">
              <a:avLst/>
            </a:prstGeom>
          </p:spPr>
        </p:pic>
        <p:pic>
          <p:nvPicPr>
            <p:cNvPr id="63" name="Image 22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477000" y="4781550"/>
              <a:ext cx="152400" cy="152400"/>
            </a:xfrm>
            <a:prstGeom prst="rect">
              <a:avLst/>
            </a:prstGeom>
          </p:spPr>
        </p:pic>
        <p:pic>
          <p:nvPicPr>
            <p:cNvPr id="65" name="Image 24" descr="preencoded.png"/>
            <p:cNvPicPr>
              <a:picLocks noChangeAspect="1"/>
            </p:cNvPicPr>
            <p:nvPr/>
          </p:nvPicPr>
          <p:blipFill>
            <a:blip r:embed="rId20"/>
            <a:stretch>
              <a:fillRect/>
            </a:stretch>
          </p:blipFill>
          <p:spPr>
            <a:xfrm>
              <a:off x="6467475" y="5197782"/>
              <a:ext cx="152400" cy="152400"/>
            </a:xfrm>
            <a:prstGeom prst="rect">
              <a:avLst/>
            </a:prstGeom>
          </p:spPr>
        </p:pic>
        <p:sp>
          <p:nvSpPr>
            <p:cNvPr id="66" name="Text 2"/>
            <p:cNvSpPr/>
            <p:nvPr/>
          </p:nvSpPr>
          <p:spPr>
            <a:xfrm>
              <a:off x="6629400" y="1524000"/>
              <a:ext cx="541020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400"/>
                </a:lnSpc>
                <a:buNone/>
              </a:pPr>
              <a:r>
                <a:rPr lang="en-US" sz="1800" b="1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分析結果</a:t>
              </a:r>
              <a:endParaRPr lang="en-US" sz="1800" dirty="0"/>
            </a:p>
          </p:txBody>
        </p:sp>
        <p:sp>
          <p:nvSpPr>
            <p:cNvPr id="67" name="Text 3"/>
            <p:cNvSpPr/>
            <p:nvPr/>
          </p:nvSpPr>
          <p:spPr>
            <a:xfrm>
              <a:off x="6743700" y="2095500"/>
              <a:ext cx="51054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dirty="0">
                  <a:solidFill>
                    <a:srgbClr val="581C87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貴金屬相關詞彙</a:t>
              </a:r>
              <a:endParaRPr lang="en-US" sz="1500" dirty="0"/>
            </a:p>
          </p:txBody>
        </p:sp>
        <p:sp>
          <p:nvSpPr>
            <p:cNvPr id="68" name="Text 4"/>
            <p:cNvSpPr/>
            <p:nvPr/>
          </p:nvSpPr>
          <p:spPr>
            <a:xfrm>
              <a:off x="6600825" y="2466975"/>
              <a:ext cx="32766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黃金</a:t>
              </a:r>
              <a:endParaRPr lang="en-US" sz="1200" dirty="0"/>
            </a:p>
          </p:txBody>
        </p:sp>
        <p:sp>
          <p:nvSpPr>
            <p:cNvPr id="69" name="Text 5"/>
            <p:cNvSpPr/>
            <p:nvPr/>
          </p:nvSpPr>
          <p:spPr>
            <a:xfrm>
              <a:off x="7153275" y="2466975"/>
              <a:ext cx="59436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en-US" sz="12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白</a:t>
              </a:r>
              <a:r>
                <a:rPr lang="zh-TW" altLang="en-US" sz="12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銀</a:t>
              </a:r>
              <a:endParaRPr lang="en-US" sz="1200" dirty="0"/>
            </a:p>
          </p:txBody>
        </p:sp>
        <p:sp>
          <p:nvSpPr>
            <p:cNvPr id="70" name="Text 6"/>
            <p:cNvSpPr/>
            <p:nvPr/>
          </p:nvSpPr>
          <p:spPr>
            <a:xfrm>
              <a:off x="7705725" y="2466975"/>
              <a:ext cx="96012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zh-TW" altLang="en-US" sz="1200" dirty="0">
                  <a:solidFill>
                    <a:srgbClr val="333333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開採</a:t>
              </a:r>
              <a:endParaRPr lang="en-US" sz="1200" dirty="0"/>
            </a:p>
          </p:txBody>
        </p:sp>
        <p:sp>
          <p:nvSpPr>
            <p:cNvPr id="71" name="Text 10"/>
            <p:cNvSpPr/>
            <p:nvPr/>
          </p:nvSpPr>
          <p:spPr>
            <a:xfrm>
              <a:off x="6743700" y="3257550"/>
              <a:ext cx="51054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zh-TW" altLang="en-US" sz="1500" dirty="0">
                  <a:solidFill>
                    <a:srgbClr val="1580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布雷體系</a:t>
              </a:r>
              <a:r>
                <a:rPr lang="en-US" sz="1500" dirty="0" err="1">
                  <a:solidFill>
                    <a:srgbClr val="15803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相關詞彙</a:t>
              </a:r>
              <a:endParaRPr lang="en-US" sz="1500" dirty="0"/>
            </a:p>
          </p:txBody>
        </p:sp>
        <p:sp>
          <p:nvSpPr>
            <p:cNvPr id="72" name="Text 11"/>
            <p:cNvSpPr/>
            <p:nvPr/>
          </p:nvSpPr>
          <p:spPr>
            <a:xfrm>
              <a:off x="6600825" y="3629025"/>
              <a:ext cx="59436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zh-TW" altLang="en-US" sz="1200" dirty="0"/>
                <a:t>布雷</a:t>
              </a:r>
              <a:endParaRPr lang="en-US" sz="1200" dirty="0"/>
            </a:p>
          </p:txBody>
        </p:sp>
        <p:sp>
          <p:nvSpPr>
            <p:cNvPr id="73" name="Text 12"/>
            <p:cNvSpPr/>
            <p:nvPr/>
          </p:nvSpPr>
          <p:spPr>
            <a:xfrm>
              <a:off x="7153275" y="3629025"/>
              <a:ext cx="59436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zh-TW" altLang="en-US" sz="1200" dirty="0">
                  <a:solidFill>
                    <a:srgbClr val="333333"/>
                  </a:solidFill>
                  <a:latin typeface="Arial" pitchFamily="34" charset="0"/>
                  <a:cs typeface="Arial" pitchFamily="34" charset="-120"/>
                </a:rPr>
                <a:t>森林</a:t>
              </a:r>
              <a:endParaRPr lang="en-US" sz="1200" dirty="0"/>
            </a:p>
          </p:txBody>
        </p:sp>
        <p:sp>
          <p:nvSpPr>
            <p:cNvPr id="74" name="Text 13"/>
            <p:cNvSpPr/>
            <p:nvPr/>
          </p:nvSpPr>
          <p:spPr>
            <a:xfrm>
              <a:off x="7705725" y="3629025"/>
              <a:ext cx="59436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zh-TW" altLang="en-US" sz="1200" dirty="0">
                  <a:solidFill>
                    <a:srgbClr val="333333"/>
                  </a:solidFill>
                  <a:latin typeface="Arial" pitchFamily="34" charset="0"/>
                  <a:cs typeface="Arial" pitchFamily="34" charset="-120"/>
                </a:rPr>
                <a:t>崩潰</a:t>
              </a:r>
              <a:endParaRPr lang="en-US" sz="1200" dirty="0"/>
            </a:p>
          </p:txBody>
        </p:sp>
        <p:sp>
          <p:nvSpPr>
            <p:cNvPr id="75" name="Text 14"/>
            <p:cNvSpPr/>
            <p:nvPr/>
          </p:nvSpPr>
          <p:spPr>
            <a:xfrm>
              <a:off x="8258175" y="3629025"/>
              <a:ext cx="59436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zh-TW" altLang="en-US" sz="1200" dirty="0">
                  <a:solidFill>
                    <a:srgbClr val="333333"/>
                  </a:solidFill>
                  <a:latin typeface="Arial" pitchFamily="34" charset="0"/>
                  <a:cs typeface="Arial" pitchFamily="34" charset="-120"/>
                </a:rPr>
                <a:t>體系</a:t>
              </a:r>
              <a:endParaRPr lang="en-US" sz="1200" dirty="0"/>
            </a:p>
          </p:txBody>
        </p:sp>
        <p:sp>
          <p:nvSpPr>
            <p:cNvPr id="76" name="Text 15"/>
            <p:cNvSpPr/>
            <p:nvPr/>
          </p:nvSpPr>
          <p:spPr>
            <a:xfrm>
              <a:off x="8810625" y="3629025"/>
              <a:ext cx="400050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zh-TW" altLang="en-US" sz="1200" dirty="0">
                  <a:solidFill>
                    <a:srgbClr val="333333"/>
                  </a:solidFill>
                  <a:latin typeface="Arial" pitchFamily="34" charset="0"/>
                  <a:cs typeface="Arial" pitchFamily="34" charset="-120"/>
                </a:rPr>
                <a:t>兌換</a:t>
              </a:r>
              <a:endParaRPr lang="en-US" sz="1200" dirty="0"/>
            </a:p>
          </p:txBody>
        </p:sp>
        <p:sp>
          <p:nvSpPr>
            <p:cNvPr id="77" name="Text 16"/>
            <p:cNvSpPr/>
            <p:nvPr/>
          </p:nvSpPr>
          <p:spPr>
            <a:xfrm>
              <a:off x="9334500" y="3657600"/>
              <a:ext cx="349336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zh-TW" altLang="en-US" sz="1200" dirty="0"/>
                <a:t>承認</a:t>
              </a:r>
              <a:endParaRPr lang="en-US" sz="1200" dirty="0"/>
            </a:p>
          </p:txBody>
        </p:sp>
        <p:sp>
          <p:nvSpPr>
            <p:cNvPr id="78" name="Text 17"/>
            <p:cNvSpPr/>
            <p:nvPr/>
          </p:nvSpPr>
          <p:spPr>
            <a:xfrm>
              <a:off x="6696075" y="4419600"/>
              <a:ext cx="5105400" cy="2667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2100"/>
                </a:lnSpc>
                <a:buNone/>
              </a:pPr>
              <a:r>
                <a:rPr lang="en-US" sz="1500" dirty="0">
                  <a:solidFill>
                    <a:srgbClr val="374151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關鍵發現</a:t>
              </a:r>
              <a:endParaRPr lang="en-US" sz="1500" dirty="0"/>
            </a:p>
          </p:txBody>
        </p:sp>
        <p:pic>
          <p:nvPicPr>
            <p:cNvPr id="79" name="Image 19" descr="preencoded.png">
              <a:extLst>
                <a:ext uri="{FF2B5EF4-FFF2-40B4-BE49-F238E27FC236}">
                  <a16:creationId xmlns:a16="http://schemas.microsoft.com/office/drawing/2014/main" id="{14D3D9A4-EE57-4189-F455-B104824A3B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/>
            <a:stretch>
              <a:fillRect/>
            </a:stretch>
          </p:blipFill>
          <p:spPr>
            <a:xfrm>
              <a:off x="9817186" y="3649877"/>
              <a:ext cx="495300" cy="304800"/>
            </a:xfrm>
            <a:prstGeom prst="rect">
              <a:avLst/>
            </a:prstGeom>
          </p:spPr>
        </p:pic>
        <p:sp>
          <p:nvSpPr>
            <p:cNvPr id="80" name="Text 16">
              <a:extLst>
                <a:ext uri="{FF2B5EF4-FFF2-40B4-BE49-F238E27FC236}">
                  <a16:creationId xmlns:a16="http://schemas.microsoft.com/office/drawing/2014/main" id="{9B6B4143-0910-CBF5-9905-4CD1852BCFB9}"/>
                </a:ext>
              </a:extLst>
            </p:cNvPr>
            <p:cNvSpPr/>
            <p:nvPr/>
          </p:nvSpPr>
          <p:spPr>
            <a:xfrm>
              <a:off x="9893180" y="3669442"/>
              <a:ext cx="349336" cy="304800"/>
            </a:xfrm>
            <a:prstGeom prst="rect">
              <a:avLst/>
            </a:prstGeom>
            <a:noFill/>
            <a:ln/>
          </p:spPr>
          <p:txBody>
            <a:bodyPr vert="horz" wrap="square" lIns="0" tIns="0" rIns="0" bIns="0" rtlCol="0" anchor="t"/>
            <a:lstStyle/>
            <a:p>
              <a:pPr marL="0" indent="0">
                <a:lnSpc>
                  <a:spcPts val="1800"/>
                </a:lnSpc>
                <a:buNone/>
              </a:pPr>
              <a:r>
                <a:rPr lang="zh-TW" altLang="en-US" sz="1200" dirty="0"/>
                <a:t>實行</a:t>
              </a:r>
              <a:endParaRPr lang="en-US" sz="1200" dirty="0"/>
            </a:p>
          </p:txBody>
        </p:sp>
      </p:grpSp>
      <p:sp>
        <p:nvSpPr>
          <p:cNvPr id="81" name="文字方塊 80">
            <a:extLst>
              <a:ext uri="{FF2B5EF4-FFF2-40B4-BE49-F238E27FC236}">
                <a16:creationId xmlns:a16="http://schemas.microsoft.com/office/drawing/2014/main" id="{25D7DC77-03BB-61C4-5040-86A5A1112417}"/>
              </a:ext>
            </a:extLst>
          </p:cNvPr>
          <p:cNvSpPr txBox="1"/>
          <p:nvPr/>
        </p:nvSpPr>
        <p:spPr>
          <a:xfrm>
            <a:off x="843089" y="4893185"/>
            <a:ext cx="510540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「布雷、森林、崩潰、體系、兌換、承認、實行」等詞與黃金高度相似，合理反映</a:t>
            </a:r>
            <a:r>
              <a:rPr lang="zh-TW" altLang="en-US" sz="1200" dirty="0">
                <a:solidFill>
                  <a:srgbClr val="FF0000"/>
                </a:solidFill>
              </a:rPr>
              <a:t>布列敦森林體系的制度設計與瓦解。</a:t>
            </a:r>
          </a:p>
        </p:txBody>
      </p: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C2129C98-909D-4E06-58CD-7DF7E0CE9353}"/>
              </a:ext>
            </a:extLst>
          </p:cNvPr>
          <p:cNvSpPr txBox="1"/>
          <p:nvPr/>
        </p:nvSpPr>
        <p:spPr>
          <a:xfrm>
            <a:off x="817286" y="5332821"/>
            <a:ext cx="510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「白銀、貴金屬、開採」則呈現黃金的市場屬性，與其他金屬語義接近</a:t>
            </a:r>
          </a:p>
        </p:txBody>
      </p:sp>
      <p:sp>
        <p:nvSpPr>
          <p:cNvPr id="83" name="文字方塊 82">
            <a:extLst>
              <a:ext uri="{FF2B5EF4-FFF2-40B4-BE49-F238E27FC236}">
                <a16:creationId xmlns:a16="http://schemas.microsoft.com/office/drawing/2014/main" id="{E4C69544-EE32-14FA-6AA4-75C5F38C4F73}"/>
              </a:ext>
            </a:extLst>
          </p:cNvPr>
          <p:cNvSpPr txBox="1"/>
          <p:nvPr/>
        </p:nvSpPr>
        <p:spPr>
          <a:xfrm>
            <a:off x="593314" y="5631382"/>
            <a:ext cx="16321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📊 </a:t>
            </a:r>
            <a:r>
              <a:rPr lang="zh-TW" altLang="en-US" sz="1400" dirty="0"/>
              <a:t>分析基礎穩固</a:t>
            </a:r>
            <a:endParaRPr lang="zh-TW" altLang="en-US" dirty="0"/>
          </a:p>
        </p:txBody>
      </p:sp>
      <p:pic>
        <p:nvPicPr>
          <p:cNvPr id="84" name="Image 22" descr="preencoded.png">
            <a:extLst>
              <a:ext uri="{FF2B5EF4-FFF2-40B4-BE49-F238E27FC236}">
                <a16:creationId xmlns:a16="http://schemas.microsoft.com/office/drawing/2014/main" id="{13A8550D-E60D-48F4-1303-264DA0D57DD2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33128" y="6082185"/>
            <a:ext cx="152400" cy="152400"/>
          </a:xfrm>
          <a:prstGeom prst="rect">
            <a:avLst/>
          </a:prstGeom>
        </p:spPr>
      </p:pic>
      <p:pic>
        <p:nvPicPr>
          <p:cNvPr id="85" name="Image 22" descr="preencoded.png">
            <a:extLst>
              <a:ext uri="{FF2B5EF4-FFF2-40B4-BE49-F238E27FC236}">
                <a16:creationId xmlns:a16="http://schemas.microsoft.com/office/drawing/2014/main" id="{2BE9F640-9B5B-AB70-9F63-739ABD2AE70C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23603" y="6458000"/>
            <a:ext cx="152400" cy="152400"/>
          </a:xfrm>
          <a:prstGeom prst="rect">
            <a:avLst/>
          </a:prstGeom>
        </p:spPr>
      </p:pic>
      <p:sp>
        <p:nvSpPr>
          <p:cNvPr id="86" name="文字方塊 85">
            <a:extLst>
              <a:ext uri="{FF2B5EF4-FFF2-40B4-BE49-F238E27FC236}">
                <a16:creationId xmlns:a16="http://schemas.microsoft.com/office/drawing/2014/main" id="{E391FCE2-FBD3-1665-C8F3-C9647648CFB9}"/>
              </a:ext>
            </a:extLst>
          </p:cNvPr>
          <p:cNvSpPr txBox="1"/>
          <p:nvPr/>
        </p:nvSpPr>
        <p:spPr>
          <a:xfrm>
            <a:off x="914102" y="6062128"/>
            <a:ext cx="510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使用調整後的 </a:t>
            </a:r>
            <a:r>
              <a:rPr lang="en-US" altLang="zh-TW" sz="1200" dirty="0"/>
              <a:t>TF-IDF </a:t>
            </a:r>
            <a:r>
              <a:rPr lang="zh-TW" altLang="en-US" sz="1200" dirty="0"/>
              <a:t>矩陣並進行 </a:t>
            </a:r>
            <a:r>
              <a:rPr lang="en-US" altLang="zh-TW" sz="1200" dirty="0"/>
              <a:t>normalization</a:t>
            </a:r>
            <a:r>
              <a:rPr lang="zh-TW" altLang="en-US" sz="1200" dirty="0"/>
              <a:t>，確保語義相似度計算準確。</a:t>
            </a:r>
          </a:p>
        </p:txBody>
      </p:sp>
      <p:sp>
        <p:nvSpPr>
          <p:cNvPr id="87" name="文字方塊 86">
            <a:extLst>
              <a:ext uri="{FF2B5EF4-FFF2-40B4-BE49-F238E27FC236}">
                <a16:creationId xmlns:a16="http://schemas.microsoft.com/office/drawing/2014/main" id="{8CF852EA-1BD0-94AF-7C41-A19B9EEE1C7E}"/>
              </a:ext>
            </a:extLst>
          </p:cNvPr>
          <p:cNvSpPr txBox="1"/>
          <p:nvPr/>
        </p:nvSpPr>
        <p:spPr>
          <a:xfrm>
            <a:off x="901933" y="6395700"/>
            <a:ext cx="5105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整體相似度表現穩定，有助於後續主題判斷與語義探索。</a:t>
            </a:r>
          </a:p>
        </p:txBody>
      </p:sp>
      <p:pic>
        <p:nvPicPr>
          <p:cNvPr id="89" name="圖片 88">
            <a:extLst>
              <a:ext uri="{FF2B5EF4-FFF2-40B4-BE49-F238E27FC236}">
                <a16:creationId xmlns:a16="http://schemas.microsoft.com/office/drawing/2014/main" id="{C275A00C-2B3E-DC5D-0132-F1D54053DFAC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667202" y="2296390"/>
            <a:ext cx="5143797" cy="43460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09573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0411F-91D5-CEE4-E41F-7E9C56CFB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0">
            <a:extLst>
              <a:ext uri="{FF2B5EF4-FFF2-40B4-BE49-F238E27FC236}">
                <a16:creationId xmlns:a16="http://schemas.microsoft.com/office/drawing/2014/main" id="{9E15A9E2-7CF9-1A67-2644-C9548BAB71F0}"/>
              </a:ext>
            </a:extLst>
          </p:cNvPr>
          <p:cNvSpPr/>
          <p:nvPr/>
        </p:nvSpPr>
        <p:spPr>
          <a:xfrm>
            <a:off x="457200" y="4572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altLang="zh-TW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1000073.txt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文本分析 </a:t>
            </a:r>
            <a:r>
              <a:rPr lang="en-US" altLang="zh-TW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-- 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基於</a:t>
            </a:r>
            <a:r>
              <a:rPr lang="en-US" sz="2700" b="1" dirty="0" err="1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tdidf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比對相似度</a:t>
            </a:r>
            <a:r>
              <a:rPr lang="en-US" sz="2700" b="1" dirty="0" err="1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v.s</a:t>
            </a:r>
            <a:r>
              <a:rPr 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基於</a:t>
            </a:r>
            <a:r>
              <a:rPr 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NM</a:t>
            </a:r>
            <a:r>
              <a:rPr lang="en-US" altLang="zh-TW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主題模型分析 </a:t>
            </a:r>
            <a:endParaRPr lang="en-US" sz="2700" dirty="0"/>
          </a:p>
        </p:txBody>
      </p:sp>
      <p:sp>
        <p:nvSpPr>
          <p:cNvPr id="28" name="Text 1">
            <a:extLst>
              <a:ext uri="{FF2B5EF4-FFF2-40B4-BE49-F238E27FC236}">
                <a16:creationId xmlns:a16="http://schemas.microsoft.com/office/drawing/2014/main" id="{CD3E140D-7C69-3C09-9878-15E8752E6A91}"/>
              </a:ext>
            </a:extLst>
          </p:cNvPr>
          <p:cNvSpPr/>
          <p:nvPr/>
        </p:nvSpPr>
        <p:spPr>
          <a:xfrm>
            <a:off x="533400" y="943380"/>
            <a:ext cx="1127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2100"/>
              </a:lnSpc>
            </a:pP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即使經過主題模型的語義泛化處理，文件間的相似度仍保留原始結構，證明降維後分析具備穩定性與解釋力。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Text 18">
            <a:extLst>
              <a:ext uri="{FF2B5EF4-FFF2-40B4-BE49-F238E27FC236}">
                <a16:creationId xmlns:a16="http://schemas.microsoft.com/office/drawing/2014/main" id="{433310E5-1304-6D4C-CBEC-017E8223BFDF}"/>
              </a:ext>
            </a:extLst>
          </p:cNvPr>
          <p:cNvSpPr/>
          <p:nvPr/>
        </p:nvSpPr>
        <p:spPr>
          <a:xfrm>
            <a:off x="348820" y="5639323"/>
            <a:ext cx="5523660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vert="horz" wrap="square" lIns="0" tIns="0" rIns="0" bIns="0" rtlCol="0" anchor="t"/>
          <a:lstStyle/>
          <a:p>
            <a:r>
              <a:rPr lang="zh-TW" altLang="en-US" b="1" dirty="0"/>
              <a:t>🎯 應用價值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證明主題模型不會造成語料失真，反而提升語義理解與分析效率。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/>
              <a:t>適合用於文件分類、語義探索與相似度視覺化等任務。</a:t>
            </a:r>
          </a:p>
          <a:p>
            <a:pPr algn="l">
              <a:lnSpc>
                <a:spcPts val="1800"/>
              </a:lnSpc>
              <a:buSzPct val="100000"/>
            </a:pPr>
            <a:endParaRPr lang="en-US" sz="1200" dirty="0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436437CA-A575-6200-3AA5-1385012255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3400" y="1353360"/>
            <a:ext cx="5339080" cy="285142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DB62D8E-93E8-5ECF-DA79-A2539E39270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4306"/>
          <a:stretch>
            <a:fillRect/>
          </a:stretch>
        </p:blipFill>
        <p:spPr>
          <a:xfrm>
            <a:off x="6172200" y="1298893"/>
            <a:ext cx="5133760" cy="2960353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D37BB8F9-EF3E-3583-DFC1-EA941336F853}"/>
              </a:ext>
            </a:extLst>
          </p:cNvPr>
          <p:cNvSpPr txBox="1"/>
          <p:nvPr/>
        </p:nvSpPr>
        <p:spPr>
          <a:xfrm>
            <a:off x="348820" y="4378404"/>
            <a:ext cx="5523660" cy="110799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✅ 方法比較：</a:t>
            </a:r>
            <a:r>
              <a:rPr lang="en-US" altLang="zh-TW" b="1" dirty="0">
                <a:latin typeface="Arial" panose="020B0604020202020204" pitchFamily="34" charset="0"/>
                <a:cs typeface="Arial" panose="020B0604020202020204" pitchFamily="34" charset="0"/>
              </a:rPr>
              <a:t>TF-IDF vs NMF </a:t>
            </a:r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主題模型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以 </a:t>
            </a:r>
            <a:r>
              <a:rPr lang="en-US" altLang="zh-TW" sz="1600" b="1" dirty="0">
                <a:latin typeface="Arial" panose="020B0604020202020204" pitchFamily="34" charset="0"/>
                <a:cs typeface="Arial" panose="020B0604020202020204" pitchFamily="34" charset="0"/>
              </a:rPr>
              <a:t>adjusted TF-IDF </a:t>
            </a:r>
            <a:r>
              <a:rPr lang="zh-TW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矩陣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 和 </a:t>
            </a:r>
            <a:r>
              <a:rPr lang="en-US" altLang="zh-TW" sz="1600" b="1" dirty="0">
                <a:latin typeface="Arial" panose="020B0604020202020204" pitchFamily="34" charset="0"/>
                <a:cs typeface="Arial" panose="020B0604020202020204" pitchFamily="34" charset="0"/>
              </a:rPr>
              <a:t>NMF </a:t>
            </a:r>
            <a:r>
              <a:rPr lang="zh-TW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主題分布矩陣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分別計算文件相似度。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取各方法的 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Top 10 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相似文件後，發現有 </a:t>
            </a:r>
            <a:r>
              <a:rPr lang="zh-TW" alt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兩篇文件重疊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。</a:t>
            </a:r>
            <a:endParaRPr lang="en-US" altLang="zh-TW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D02BD6E2-FAB7-C6FB-2BD1-34FC3CEDA1F2}"/>
              </a:ext>
            </a:extLst>
          </p:cNvPr>
          <p:cNvSpPr txBox="1"/>
          <p:nvPr/>
        </p:nvSpPr>
        <p:spPr>
          <a:xfrm>
            <a:off x="6154000" y="4932402"/>
            <a:ext cx="5133760" cy="135421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Arial" panose="020B0604020202020204" pitchFamily="34" charset="0"/>
                <a:cs typeface="Arial" panose="020B0604020202020204" pitchFamily="34" charset="0"/>
              </a:rPr>
              <a:t>🔍 分析結論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即使經過 </a:t>
            </a: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NMF 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主題模型的泛化處理，仍能保留部分原始語義相似度。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sz="1600" dirty="0">
                <a:latin typeface="Arial" panose="020B0604020202020204" pitchFamily="34" charset="0"/>
                <a:cs typeface="Arial" panose="020B0604020202020204" pitchFamily="34" charset="0"/>
              </a:rPr>
              <a:t>NMF </a:t>
            </a:r>
            <a:r>
              <a:rPr lang="zh-TW" altLang="en-US" sz="1600" dirty="0">
                <a:latin typeface="Arial" panose="020B0604020202020204" pitchFamily="34" charset="0"/>
                <a:cs typeface="Arial" panose="020B0604020202020204" pitchFamily="34" charset="0"/>
              </a:rPr>
              <a:t>降維後的相似度矩陣更具解釋性，便於進行語義層面的比較與視覺化。</a:t>
            </a:r>
          </a:p>
        </p:txBody>
      </p:sp>
    </p:spTree>
    <p:extLst>
      <p:ext uri="{BB962C8B-B14F-4D97-AF65-F5344CB8AC3E}">
        <p14:creationId xmlns:p14="http://schemas.microsoft.com/office/powerpoint/2010/main" val="647701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25ECFB9-E846-2942-BAD9-F377C9302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472CEEC4-0CE9-2D80-2EED-C9FFED7534B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539" y="1289314"/>
            <a:ext cx="3392862" cy="3362730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31D42003-6E20-49A4-D54F-5322FD59A0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6000" y="1646519"/>
            <a:ext cx="4963218" cy="2648320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3446C99-5243-6621-C81D-A8CF1CCAD1AE}"/>
              </a:ext>
            </a:extLst>
          </p:cNvPr>
          <p:cNvSpPr txBox="1"/>
          <p:nvPr/>
        </p:nvSpPr>
        <p:spPr>
          <a:xfrm>
            <a:off x="487969" y="853951"/>
            <a:ext cx="9864491" cy="3616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100"/>
              </a:lnSpc>
            </a:pPr>
            <a:r>
              <a:rPr lang="zh-TW" altLang="en-US" dirty="0"/>
              <a:t>即使分析模型不同，關鍵詞與分群結果仍展現一致性，證明文本主題具備穩定語義結構。</a:t>
            </a:r>
            <a:endParaRPr lang="en-US" altLang="zh-TW" sz="1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5D25ABF5-E8D6-7769-960E-40FF63A859CA}"/>
              </a:ext>
            </a:extLst>
          </p:cNvPr>
          <p:cNvSpPr txBox="1"/>
          <p:nvPr/>
        </p:nvSpPr>
        <p:spPr>
          <a:xfrm>
            <a:off x="602820" y="4896053"/>
            <a:ext cx="5371260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/>
              <a:t>✅ 不同模型下的關鍵詞差異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TW" b="1" dirty="0"/>
              <a:t>Adjusted TF-IDF</a:t>
            </a:r>
            <a:r>
              <a:rPr lang="zh-TW" altLang="en-US" dirty="0"/>
              <a:t> 選出的關鍵詞語義清晰、具代表性。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b="1" dirty="0"/>
              <a:t>主題模型 </a:t>
            </a:r>
            <a:r>
              <a:rPr lang="en-US" altLang="zh-TW" b="1" dirty="0"/>
              <a:t>(NMF)</a:t>
            </a:r>
            <a:r>
              <a:rPr lang="zh-TW" altLang="en-US" dirty="0"/>
              <a:t> 選出的關鍵詞中包含未清理乾淨的技術性或雜訊文字，顯示該主題可能聚焦於資料品質較低的文本群。</a:t>
            </a: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54F7991-4A7B-BEDB-81FD-CF35972CA296}"/>
              </a:ext>
            </a:extLst>
          </p:cNvPr>
          <p:cNvSpPr txBox="1"/>
          <p:nvPr/>
        </p:nvSpPr>
        <p:spPr>
          <a:xfrm>
            <a:off x="6096000" y="4901792"/>
            <a:ext cx="5371260" cy="147732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/>
              <a:t>🔁 關鍵詞與分群一致性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兩種方法皆選出 </a:t>
            </a:r>
            <a:r>
              <a:rPr lang="en-US" altLang="zh-TW" b="1" dirty="0"/>
              <a:t>2 </a:t>
            </a:r>
            <a:r>
              <a:rPr lang="zh-TW" altLang="en-US" b="1" dirty="0"/>
              <a:t>個重疊關鍵詞</a:t>
            </a:r>
            <a:r>
              <a:rPr lang="zh-TW" altLang="en-US" dirty="0"/>
              <a:t>，且對應 </a:t>
            </a:r>
            <a:r>
              <a:rPr lang="zh-TW" altLang="en-US" b="1" dirty="0"/>
              <a:t>相同的 </a:t>
            </a:r>
            <a:r>
              <a:rPr lang="en-US" altLang="zh-TW" b="1" dirty="0"/>
              <a:t>cluster </a:t>
            </a:r>
            <a:r>
              <a:rPr lang="zh-TW" altLang="en-US" b="1" dirty="0"/>
              <a:t>分群結果</a:t>
            </a:r>
            <a:r>
              <a:rPr lang="zh-TW" altLang="en-US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可推論該文本主題與「區域開發」相關，語義穩定性高。</a:t>
            </a:r>
          </a:p>
        </p:txBody>
      </p:sp>
      <p:sp>
        <p:nvSpPr>
          <p:cNvPr id="11" name="Text 0">
            <a:extLst>
              <a:ext uri="{FF2B5EF4-FFF2-40B4-BE49-F238E27FC236}">
                <a16:creationId xmlns:a16="http://schemas.microsoft.com/office/drawing/2014/main" id="{12C0263C-D65D-C164-BC6C-1387DFF67C31}"/>
              </a:ext>
            </a:extLst>
          </p:cNvPr>
          <p:cNvSpPr/>
          <p:nvPr/>
        </p:nvSpPr>
        <p:spPr>
          <a:xfrm>
            <a:off x="457200" y="4572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altLang="zh-TW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1000073.txt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文本分析 </a:t>
            </a:r>
            <a:r>
              <a:rPr lang="en-US" altLang="zh-TW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-- 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基於</a:t>
            </a:r>
            <a:r>
              <a:rPr lang="en-US" sz="2700" b="1" dirty="0" err="1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tdidf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比對相似度</a:t>
            </a:r>
            <a:r>
              <a:rPr lang="en-US" sz="2700" b="1" dirty="0" err="1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v.s</a:t>
            </a:r>
            <a:r>
              <a:rPr 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基於</a:t>
            </a:r>
            <a:r>
              <a:rPr 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NM</a:t>
            </a:r>
            <a:r>
              <a:rPr lang="en-US" altLang="zh-TW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主題模型分析 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23612249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959621-AADB-9449-1ABE-BA1DB858C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0F7D44AC-09C5-4416-2E6F-160447C66686}"/>
              </a:ext>
            </a:extLst>
          </p:cNvPr>
          <p:cNvSpPr txBox="1"/>
          <p:nvPr/>
        </p:nvSpPr>
        <p:spPr>
          <a:xfrm>
            <a:off x="487969" y="853951"/>
            <a:ext cx="657323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/>
              <a:t>Scatter plot </a:t>
            </a:r>
            <a:r>
              <a:rPr lang="zh-TW" altLang="en-US" dirty="0"/>
              <a:t>驗證文件分群一致，目標文本確實屬於藍色 </a:t>
            </a:r>
            <a:r>
              <a:rPr lang="en-US" altLang="zh-TW" dirty="0"/>
              <a:t>cluster</a:t>
            </a:r>
            <a:r>
              <a:rPr lang="zh-TW" altLang="en-US" dirty="0"/>
              <a:t>。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630F04CE-BB61-13E8-8AE5-0217D72752C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49" y="1409165"/>
            <a:ext cx="5877745" cy="305795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C9E51801-CD6D-390D-B118-34EBE279C54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1835"/>
          <a:stretch>
            <a:fillRect/>
          </a:stretch>
        </p:blipFill>
        <p:spPr>
          <a:xfrm>
            <a:off x="6306017" y="1409165"/>
            <a:ext cx="5753903" cy="3057952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2E56BA6-A81A-38E3-00EC-908008E76643}"/>
              </a:ext>
            </a:extLst>
          </p:cNvPr>
          <p:cNvSpPr txBox="1"/>
          <p:nvPr/>
        </p:nvSpPr>
        <p:spPr>
          <a:xfrm>
            <a:off x="2529840" y="5048624"/>
            <a:ext cx="7132320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b="1" dirty="0"/>
              <a:t>📊 </a:t>
            </a:r>
            <a:r>
              <a:rPr lang="en-US" altLang="zh-TW" b="1" dirty="0"/>
              <a:t>Scatter Plot </a:t>
            </a:r>
            <a:r>
              <a:rPr lang="zh-TW" altLang="en-US" b="1" dirty="0"/>
              <a:t>分群比較重點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兩張散點圖顯示文件分群結果 </a:t>
            </a:r>
            <a:r>
              <a:rPr lang="zh-TW" altLang="en-US" b="1" dirty="0"/>
              <a:t>高度一致</a:t>
            </a:r>
            <a:r>
              <a:rPr lang="zh-TW" altLang="en-US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目標文本 </a:t>
            </a:r>
            <a:r>
              <a:rPr lang="en-US" altLang="zh-TW" dirty="0"/>
              <a:t>(</a:t>
            </a:r>
            <a:r>
              <a:rPr lang="zh-TW" altLang="en-US" dirty="0"/>
              <a:t>紅點</a:t>
            </a:r>
            <a:r>
              <a:rPr lang="en-US" altLang="zh-TW" dirty="0"/>
              <a:t>) </a:t>
            </a:r>
            <a:r>
              <a:rPr lang="zh-TW" altLang="en-US" dirty="0"/>
              <a:t>與相似文本 </a:t>
            </a:r>
            <a:r>
              <a:rPr lang="en-US" altLang="zh-TW" dirty="0"/>
              <a:t>(</a:t>
            </a:r>
            <a:r>
              <a:rPr lang="zh-TW" altLang="en-US" dirty="0"/>
              <a:t>綠點</a:t>
            </a:r>
            <a:r>
              <a:rPr lang="en-US" altLang="zh-TW" dirty="0"/>
              <a:t>) </a:t>
            </a:r>
            <a:r>
              <a:rPr lang="zh-TW" altLang="en-US" dirty="0"/>
              <a:t>均落在 </a:t>
            </a:r>
            <a:r>
              <a:rPr lang="zh-TW" altLang="en-US" b="1" dirty="0"/>
              <a:t>同一藍色 </a:t>
            </a:r>
            <a:r>
              <a:rPr lang="en-US" altLang="zh-TW" b="1" dirty="0"/>
              <a:t>cluster</a:t>
            </a:r>
            <a:r>
              <a:rPr lang="zh-TW" altLang="en-US" dirty="0"/>
              <a:t>。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分群結果清楚驗證該文本的主題歸屬，具穩定性與一致性。</a:t>
            </a:r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83891843-C726-B4C8-C207-D8F89D4115F9}"/>
              </a:ext>
            </a:extLst>
          </p:cNvPr>
          <p:cNvSpPr/>
          <p:nvPr/>
        </p:nvSpPr>
        <p:spPr>
          <a:xfrm>
            <a:off x="457200" y="457200"/>
            <a:ext cx="114300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>
              <a:lnSpc>
                <a:spcPts val="3000"/>
              </a:lnSpc>
            </a:pP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</a:t>
            </a:r>
            <a:r>
              <a:rPr lang="en-US" altLang="zh-TW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1000073.txt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文本分析 </a:t>
            </a:r>
            <a:r>
              <a:rPr lang="en-US" altLang="zh-TW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-- 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基於</a:t>
            </a:r>
            <a:r>
              <a:rPr lang="en-US" sz="2700" b="1" dirty="0" err="1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tdidf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比對相似度</a:t>
            </a:r>
            <a:r>
              <a:rPr lang="en-US" sz="2700" b="1" dirty="0" err="1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v.s</a:t>
            </a:r>
            <a:r>
              <a:rPr 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基於</a:t>
            </a:r>
            <a:r>
              <a:rPr 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NM</a:t>
            </a:r>
            <a:r>
              <a:rPr lang="en-US" altLang="zh-TW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</a:t>
            </a:r>
            <a:r>
              <a:rPr lang="zh-TW" alt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主題模型分析 </a:t>
            </a:r>
            <a:endParaRPr lang="en-US" sz="2700" dirty="0"/>
          </a:p>
        </p:txBody>
      </p:sp>
    </p:spTree>
    <p:extLst>
      <p:ext uri="{BB962C8B-B14F-4D97-AF65-F5344CB8AC3E}">
        <p14:creationId xmlns:p14="http://schemas.microsoft.com/office/powerpoint/2010/main" val="1947140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6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047750"/>
            <a:ext cx="25717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5463" y="1409700"/>
            <a:ext cx="1828800" cy="7620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4138" y="1524000"/>
            <a:ext cx="171450" cy="3048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738563" y="1676400"/>
            <a:ext cx="200025" cy="2286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52888" y="1409700"/>
            <a:ext cx="1828800" cy="7620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4413" y="1524000"/>
            <a:ext cx="285750" cy="3048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995988" y="1676400"/>
            <a:ext cx="200025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313" y="1409700"/>
            <a:ext cx="1828800" cy="7620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110413" y="1524000"/>
            <a:ext cx="228600" cy="3048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53412" y="1676400"/>
            <a:ext cx="200025" cy="2286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67738" y="1409700"/>
            <a:ext cx="1828800" cy="7620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53550" y="1524000"/>
            <a:ext cx="257175" cy="3048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57200" y="2476500"/>
            <a:ext cx="5524500" cy="36195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" y="2705100"/>
            <a:ext cx="190500" cy="1905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7700" y="3048000"/>
            <a:ext cx="5143500" cy="8763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800100" y="3276600"/>
            <a:ext cx="190500" cy="1524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6800" y="3200400"/>
            <a:ext cx="3170486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23900" y="4152900"/>
            <a:ext cx="152400" cy="1524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723900" y="5448300"/>
            <a:ext cx="190500" cy="1524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10300" y="2476500"/>
            <a:ext cx="5524500" cy="36195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6400800" y="2705100"/>
            <a:ext cx="142875" cy="190500"/>
          </a:xfrm>
          <a:prstGeom prst="rect">
            <a:avLst/>
          </a:prstGeom>
        </p:spPr>
      </p:pic>
      <p:pic>
        <p:nvPicPr>
          <p:cNvPr id="25" name="Image 23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6400800" y="3048000"/>
            <a:ext cx="5143500" cy="876300"/>
          </a:xfrm>
          <a:prstGeom prst="rect">
            <a:avLst/>
          </a:prstGeom>
        </p:spPr>
      </p:pic>
      <p:pic>
        <p:nvPicPr>
          <p:cNvPr id="26" name="Image 2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53200" y="3276600"/>
            <a:ext cx="190500" cy="152400"/>
          </a:xfrm>
          <a:prstGeom prst="rect">
            <a:avLst/>
          </a:prstGeom>
        </p:spPr>
      </p:pic>
      <p:pic>
        <p:nvPicPr>
          <p:cNvPr id="27" name="Image 25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6819900" y="3200400"/>
            <a:ext cx="3627686" cy="304800"/>
          </a:xfrm>
          <a:prstGeom prst="rect">
            <a:avLst/>
          </a:prstGeom>
        </p:spPr>
      </p:pic>
      <p:pic>
        <p:nvPicPr>
          <p:cNvPr id="28" name="Image 26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6477000" y="4152900"/>
            <a:ext cx="152400" cy="152400"/>
          </a:xfrm>
          <a:prstGeom prst="rect">
            <a:avLst/>
          </a:prstGeom>
        </p:spPr>
      </p:pic>
      <p:pic>
        <p:nvPicPr>
          <p:cNvPr id="29" name="Image 27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477000" y="4800600"/>
            <a:ext cx="152400" cy="152400"/>
          </a:xfrm>
          <a:prstGeom prst="rect">
            <a:avLst/>
          </a:prstGeom>
        </p:spPr>
      </p:pic>
      <p:pic>
        <p:nvPicPr>
          <p:cNvPr id="30" name="Image 28" descr="preencoded.png"/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6477000" y="5448300"/>
            <a:ext cx="152400" cy="152400"/>
          </a:xfrm>
          <a:prstGeom prst="rect">
            <a:avLst/>
          </a:prstGeom>
        </p:spPr>
      </p:pic>
      <p:sp>
        <p:nvSpPr>
          <p:cNvPr id="31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系統架構與核心功能</a:t>
            </a:r>
            <a:endParaRPr lang="en-US" sz="2700" dirty="0"/>
          </a:p>
        </p:txBody>
      </p:sp>
      <p:sp>
        <p:nvSpPr>
          <p:cNvPr id="32" name="Text 1"/>
          <p:cNvSpPr/>
          <p:nvPr/>
        </p:nvSpPr>
        <p:spPr>
          <a:xfrm>
            <a:off x="828675" y="1028700"/>
            <a:ext cx="112776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整體架構</a:t>
            </a:r>
            <a:endParaRPr lang="en-US" sz="1800" dirty="0"/>
          </a:p>
        </p:txBody>
      </p:sp>
      <p:sp>
        <p:nvSpPr>
          <p:cNvPr id="33" name="Text 2"/>
          <p:cNvSpPr/>
          <p:nvPr/>
        </p:nvSpPr>
        <p:spPr>
          <a:xfrm>
            <a:off x="1909762" y="1866900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原始文本資料</a:t>
            </a:r>
            <a:endParaRPr lang="en-US" sz="1050" dirty="0"/>
          </a:p>
        </p:txBody>
      </p:sp>
      <p:sp>
        <p:nvSpPr>
          <p:cNvPr id="34" name="Text 3"/>
          <p:cNvSpPr/>
          <p:nvPr/>
        </p:nvSpPr>
        <p:spPr>
          <a:xfrm>
            <a:off x="4167188" y="1866900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資料前處理</a:t>
            </a:r>
            <a:endParaRPr lang="en-US" sz="1050" dirty="0"/>
          </a:p>
        </p:txBody>
      </p:sp>
      <p:sp>
        <p:nvSpPr>
          <p:cNvPr id="35" name="Text 4"/>
          <p:cNvSpPr/>
          <p:nvPr/>
        </p:nvSpPr>
        <p:spPr>
          <a:xfrm>
            <a:off x="6424613" y="1866900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TF-IDF降維</a:t>
            </a:r>
            <a:endParaRPr lang="en-US" sz="1050" dirty="0"/>
          </a:p>
        </p:txBody>
      </p:sp>
      <p:sp>
        <p:nvSpPr>
          <p:cNvPr id="36" name="Text 5"/>
          <p:cNvSpPr/>
          <p:nvPr/>
        </p:nvSpPr>
        <p:spPr>
          <a:xfrm>
            <a:off x="8682038" y="1866900"/>
            <a:ext cx="16002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NMF主題模型</a:t>
            </a:r>
            <a:endParaRPr lang="en-US" sz="1050" dirty="0"/>
          </a:p>
        </p:txBody>
      </p:sp>
      <p:sp>
        <p:nvSpPr>
          <p:cNvPr id="37" name="Text 6"/>
          <p:cNvSpPr/>
          <p:nvPr/>
        </p:nvSpPr>
        <p:spPr>
          <a:xfrm>
            <a:off x="952500" y="2667000"/>
            <a:ext cx="20574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關鍵字關聯查詢管道</a:t>
            </a:r>
            <a:endParaRPr lang="en-US" sz="1500" dirty="0"/>
          </a:p>
        </p:txBody>
      </p:sp>
      <p:sp>
        <p:nvSpPr>
          <p:cNvPr id="38" name="Text 7"/>
          <p:cNvSpPr/>
          <p:nvPr/>
        </p:nvSpPr>
        <p:spPr>
          <a:xfrm>
            <a:off x="1143000" y="3200400"/>
            <a:ext cx="380458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get_similar_words(keyword, top_k)</a:t>
            </a:r>
            <a:endParaRPr lang="en-US" sz="1200" dirty="0"/>
          </a:p>
        </p:txBody>
      </p:sp>
      <p:sp>
        <p:nvSpPr>
          <p:cNvPr id="39" name="Text 8"/>
          <p:cNvSpPr/>
          <p:nvPr/>
        </p:nvSpPr>
        <p:spPr>
          <a:xfrm>
            <a:off x="1028700" y="3581400"/>
            <a:ext cx="5532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在調整後詞彙表中查找輸入關鍵字的索引，返回相似度最高的top_k個詞彙</a:t>
            </a:r>
            <a:endParaRPr lang="en-US" sz="1050" dirty="0"/>
          </a:p>
        </p:txBody>
      </p:sp>
      <p:sp>
        <p:nvSpPr>
          <p:cNvPr id="40" name="Text 9"/>
          <p:cNvSpPr/>
          <p:nvPr/>
        </p:nvSpPr>
        <p:spPr>
          <a:xfrm>
            <a:off x="990600" y="4143375"/>
            <a:ext cx="9144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相似度計算</a:t>
            </a:r>
            <a:endParaRPr lang="en-US" sz="1200" dirty="0"/>
          </a:p>
        </p:txBody>
      </p:sp>
      <p:sp>
        <p:nvSpPr>
          <p:cNvPr id="41" name="Text 10"/>
          <p:cNvSpPr/>
          <p:nvPr/>
        </p:nvSpPr>
        <p:spPr>
          <a:xfrm>
            <a:off x="990600" y="4343400"/>
            <a:ext cx="4036219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基於詞彙相似度矩陣(word_sim_matrix)計算關鍵字關聯性</a:t>
            </a:r>
            <a:endParaRPr lang="en-US" sz="1050" dirty="0"/>
          </a:p>
        </p:txBody>
      </p:sp>
      <p:sp>
        <p:nvSpPr>
          <p:cNvPr id="42" name="Text 11"/>
          <p:cNvSpPr/>
          <p:nvPr/>
        </p:nvSpPr>
        <p:spPr>
          <a:xfrm>
            <a:off x="838200" y="4791075"/>
            <a:ext cx="9144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視覺化呈現</a:t>
            </a:r>
            <a:endParaRPr lang="en-US" sz="1200" dirty="0"/>
          </a:p>
        </p:txBody>
      </p:sp>
      <p:sp>
        <p:nvSpPr>
          <p:cNvPr id="43" name="Text 12"/>
          <p:cNvSpPr/>
          <p:nvPr/>
        </p:nvSpPr>
        <p:spPr>
          <a:xfrm>
            <a:off x="838200" y="4991100"/>
            <a:ext cx="368046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支援關鍵字關聯網絡圖可視化，直觀展示詞語間關聯</a:t>
            </a:r>
            <a:endParaRPr lang="en-US" sz="1050" dirty="0"/>
          </a:p>
        </p:txBody>
      </p:sp>
      <p:sp>
        <p:nvSpPr>
          <p:cNvPr id="44" name="Text 13"/>
          <p:cNvSpPr/>
          <p:nvPr/>
        </p:nvSpPr>
        <p:spPr>
          <a:xfrm>
            <a:off x="1028700" y="5438775"/>
            <a:ext cx="109728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金融詞彙支援</a:t>
            </a:r>
            <a:endParaRPr lang="en-US" sz="1200" dirty="0"/>
          </a:p>
        </p:txBody>
      </p:sp>
      <p:sp>
        <p:nvSpPr>
          <p:cNvPr id="45" name="Text 14"/>
          <p:cNvSpPr/>
          <p:nvPr/>
        </p:nvSpPr>
        <p:spPr>
          <a:xfrm>
            <a:off x="1028700" y="5638800"/>
            <a:ext cx="33604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專門處理與儲存金融領域關鍵詞，避免錯誤切分</a:t>
            </a:r>
            <a:endParaRPr lang="en-US" sz="1050" dirty="0"/>
          </a:p>
        </p:txBody>
      </p:sp>
      <p:sp>
        <p:nvSpPr>
          <p:cNvPr id="46" name="Text 15"/>
          <p:cNvSpPr/>
          <p:nvPr/>
        </p:nvSpPr>
        <p:spPr>
          <a:xfrm>
            <a:off x="6657975" y="2667000"/>
            <a:ext cx="1828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文件關聯查詢管道</a:t>
            </a:r>
            <a:endParaRPr lang="en-US" sz="1500" dirty="0"/>
          </a:p>
        </p:txBody>
      </p:sp>
      <p:sp>
        <p:nvSpPr>
          <p:cNvPr id="47" name="Text 16"/>
          <p:cNvSpPr/>
          <p:nvPr/>
        </p:nvSpPr>
        <p:spPr>
          <a:xfrm>
            <a:off x="6896100" y="3200400"/>
            <a:ext cx="4353223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333333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get_similar_docs(target_doc_id, top_k)</a:t>
            </a:r>
            <a:endParaRPr lang="en-US" sz="1200" dirty="0"/>
          </a:p>
        </p:txBody>
      </p:sp>
      <p:sp>
        <p:nvSpPr>
          <p:cNvPr id="48" name="Text 17"/>
          <p:cNvSpPr/>
          <p:nvPr/>
        </p:nvSpPr>
        <p:spPr>
          <a:xfrm>
            <a:off x="6781800" y="3581400"/>
            <a:ext cx="553212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基於文件相似度矩陣找出與目標文件最相似的top_k個文件</a:t>
            </a:r>
            <a:endParaRPr lang="en-US" sz="1050" dirty="0"/>
          </a:p>
        </p:txBody>
      </p:sp>
      <p:sp>
        <p:nvSpPr>
          <p:cNvPr id="49" name="Text 18"/>
          <p:cNvSpPr/>
          <p:nvPr/>
        </p:nvSpPr>
        <p:spPr>
          <a:xfrm>
            <a:off x="6743700" y="4143375"/>
            <a:ext cx="9144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關鍵字提取</a:t>
            </a:r>
            <a:endParaRPr lang="en-US" sz="1200" dirty="0"/>
          </a:p>
        </p:txBody>
      </p:sp>
      <p:sp>
        <p:nvSpPr>
          <p:cNvPr id="50" name="Text 19"/>
          <p:cNvSpPr/>
          <p:nvPr/>
        </p:nvSpPr>
        <p:spPr>
          <a:xfrm>
            <a:off x="6743700" y="4343400"/>
            <a:ext cx="3254514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extract_keywords：從文件中提取Top K關鍵字</a:t>
            </a:r>
            <a:endParaRPr lang="en-US" sz="1050" dirty="0"/>
          </a:p>
        </p:txBody>
      </p:sp>
      <p:sp>
        <p:nvSpPr>
          <p:cNvPr id="51" name="Text 20"/>
          <p:cNvSpPr/>
          <p:nvPr/>
        </p:nvSpPr>
        <p:spPr>
          <a:xfrm>
            <a:off x="6743700" y="4791075"/>
            <a:ext cx="73152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文件分群</a:t>
            </a:r>
            <a:endParaRPr lang="en-US" sz="1200" dirty="0"/>
          </a:p>
        </p:txBody>
      </p:sp>
      <p:sp>
        <p:nvSpPr>
          <p:cNvPr id="52" name="Text 21"/>
          <p:cNvSpPr/>
          <p:nvPr/>
        </p:nvSpPr>
        <p:spPr>
          <a:xfrm>
            <a:off x="6743700" y="4991100"/>
            <a:ext cx="3298627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cluster_docs：使用文件嵌入向量進行文件分群</a:t>
            </a:r>
            <a:endParaRPr lang="en-US" sz="1050" dirty="0"/>
          </a:p>
        </p:txBody>
      </p:sp>
      <p:sp>
        <p:nvSpPr>
          <p:cNvPr id="53" name="Text 22"/>
          <p:cNvSpPr/>
          <p:nvPr/>
        </p:nvSpPr>
        <p:spPr>
          <a:xfrm>
            <a:off x="6743700" y="5438775"/>
            <a:ext cx="914400" cy="161925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多種視覺化</a:t>
            </a:r>
            <a:endParaRPr lang="en-US" sz="1200" dirty="0"/>
          </a:p>
        </p:txBody>
      </p:sp>
      <p:sp>
        <p:nvSpPr>
          <p:cNvPr id="54" name="Text 23"/>
          <p:cNvSpPr/>
          <p:nvPr/>
        </p:nvSpPr>
        <p:spPr>
          <a:xfrm>
            <a:off x="6743700" y="5638800"/>
            <a:ext cx="466094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05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plot_doc_similarity、plot_network_graph、plot_document_scatter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7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1181100"/>
            <a:ext cx="200025" cy="228600"/>
          </a:xfrm>
          <a:prstGeom prst="rect">
            <a:avLst/>
          </a:prstGeom>
        </p:spPr>
      </p:pic>
      <p:pic>
        <p:nvPicPr>
          <p:cNvPr id="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3400" y="1600200"/>
            <a:ext cx="5410200" cy="1028700"/>
          </a:xfrm>
          <a:prstGeom prst="rect">
            <a:avLst/>
          </a:prstGeom>
        </p:spPr>
      </p:pic>
      <p:pic>
        <p:nvPicPr>
          <p:cNvPr id="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85800" y="1790700"/>
            <a:ext cx="171450" cy="266700"/>
          </a:xfrm>
          <a:prstGeom prst="rect">
            <a:avLst/>
          </a:prstGeom>
        </p:spPr>
      </p:pic>
      <p:pic>
        <p:nvPicPr>
          <p:cNvPr id="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2781300"/>
            <a:ext cx="5410200" cy="800100"/>
          </a:xfrm>
          <a:prstGeom prst="rect">
            <a:avLst/>
          </a:prstGeom>
        </p:spPr>
      </p:pic>
      <p:pic>
        <p:nvPicPr>
          <p:cNvPr id="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3400" y="3733800"/>
            <a:ext cx="5410200" cy="800100"/>
          </a:xfrm>
          <a:prstGeom prst="rect">
            <a:avLst/>
          </a:prstGeom>
        </p:spPr>
      </p:pic>
      <p:pic>
        <p:nvPicPr>
          <p:cNvPr id="9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85800" y="3924300"/>
            <a:ext cx="219075" cy="266700"/>
          </a:xfrm>
          <a:prstGeom prst="rect">
            <a:avLst/>
          </a:prstGeom>
        </p:spPr>
      </p:pic>
      <p:pic>
        <p:nvPicPr>
          <p:cNvPr id="10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48400" y="1181100"/>
            <a:ext cx="228600" cy="228600"/>
          </a:xfrm>
          <a:prstGeom prst="rect">
            <a:avLst/>
          </a:prstGeom>
        </p:spPr>
      </p:pic>
      <p:pic>
        <p:nvPicPr>
          <p:cNvPr id="11" name="Image 9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4600" y="1600200"/>
            <a:ext cx="5410200" cy="1028700"/>
          </a:xfrm>
          <a:prstGeom prst="rect">
            <a:avLst/>
          </a:prstGeom>
        </p:spPr>
      </p:pic>
      <p:pic>
        <p:nvPicPr>
          <p:cNvPr id="12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477000" y="1790700"/>
            <a:ext cx="142875" cy="266700"/>
          </a:xfrm>
          <a:prstGeom prst="rect">
            <a:avLst/>
          </a:prstGeom>
        </p:spPr>
      </p:pic>
      <p:pic>
        <p:nvPicPr>
          <p:cNvPr id="13" name="Image 11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324600" y="2781300"/>
            <a:ext cx="5410200" cy="1028700"/>
          </a:xfrm>
          <a:prstGeom prst="rect">
            <a:avLst/>
          </a:prstGeom>
        </p:spPr>
      </p:pic>
      <p:pic>
        <p:nvPicPr>
          <p:cNvPr id="14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477000" y="2971800"/>
            <a:ext cx="190500" cy="266700"/>
          </a:xfrm>
          <a:prstGeom prst="rect">
            <a:avLst/>
          </a:prstGeom>
        </p:spPr>
      </p:pic>
      <p:pic>
        <p:nvPicPr>
          <p:cNvPr id="15" name="Image 13" descr="preencoded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24600" y="3962400"/>
            <a:ext cx="5410200" cy="1028700"/>
          </a:xfrm>
          <a:prstGeom prst="rect">
            <a:avLst/>
          </a:prstGeom>
        </p:spPr>
      </p:pic>
      <p:pic>
        <p:nvPicPr>
          <p:cNvPr id="16" name="Image 14" descr="preencoded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477000" y="4152900"/>
            <a:ext cx="190500" cy="266700"/>
          </a:xfrm>
          <a:prstGeom prst="rect">
            <a:avLst/>
          </a:prstGeom>
        </p:spPr>
      </p:pic>
      <p:pic>
        <p:nvPicPr>
          <p:cNvPr id="17" name="Image 15" descr="preencoded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43583" y="5810250"/>
            <a:ext cx="228600" cy="304800"/>
          </a:xfrm>
          <a:prstGeom prst="rect">
            <a:avLst/>
          </a:prstGeom>
        </p:spPr>
      </p:pic>
      <p:pic>
        <p:nvPicPr>
          <p:cNvPr id="18" name="Image 16" descr="preencoded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703761" y="5810250"/>
            <a:ext cx="200025" cy="304800"/>
          </a:xfrm>
          <a:prstGeom prst="rect">
            <a:avLst/>
          </a:prstGeom>
        </p:spPr>
      </p:pic>
      <p:pic>
        <p:nvPicPr>
          <p:cNvPr id="19" name="Image 17" descr="preencoded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4306788" y="5810250"/>
            <a:ext cx="285750" cy="304800"/>
          </a:xfrm>
          <a:prstGeom prst="rect">
            <a:avLst/>
          </a:prstGeom>
        </p:spPr>
      </p:pic>
      <p:pic>
        <p:nvPicPr>
          <p:cNvPr id="20" name="Image 18" descr="preencoded.png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952679" y="5810250"/>
            <a:ext cx="285750" cy="304800"/>
          </a:xfrm>
          <a:prstGeom prst="rect">
            <a:avLst/>
          </a:prstGeom>
        </p:spPr>
      </p:pic>
      <p:pic>
        <p:nvPicPr>
          <p:cNvPr id="21" name="Image 19" descr="preencoded.png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7627144" y="5810250"/>
            <a:ext cx="228600" cy="304800"/>
          </a:xfrm>
          <a:prstGeom prst="rect">
            <a:avLst/>
          </a:prstGeom>
        </p:spPr>
      </p:pic>
      <p:pic>
        <p:nvPicPr>
          <p:cNvPr id="22" name="Image 20" descr="preencoded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301609" y="5810250"/>
            <a:ext cx="171450" cy="304800"/>
          </a:xfrm>
          <a:prstGeom prst="rect">
            <a:avLst/>
          </a:prstGeom>
        </p:spPr>
      </p:pic>
      <p:pic>
        <p:nvPicPr>
          <p:cNvPr id="23" name="Image 21" descr="preencoded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10918924" y="5810250"/>
            <a:ext cx="228600" cy="304800"/>
          </a:xfrm>
          <a:prstGeom prst="rect">
            <a:avLst/>
          </a:prstGeom>
        </p:spPr>
      </p:pic>
      <p:pic>
        <p:nvPicPr>
          <p:cNvPr id="24" name="Image 22" descr="preencoded.png"/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457200" y="0"/>
            <a:ext cx="10477500" cy="190500"/>
          </a:xfrm>
          <a:prstGeom prst="rect">
            <a:avLst/>
          </a:prstGeom>
        </p:spPr>
      </p:pic>
      <p:sp>
        <p:nvSpPr>
          <p:cNvPr id="25" name="Text 0"/>
          <p:cNvSpPr/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3000"/>
              </a:lnSpc>
              <a:buNone/>
            </a:pPr>
            <a:r>
              <a:rPr lang="en-US" sz="2700" b="1" dirty="0">
                <a:solidFill>
                  <a:srgbClr val="2E8B57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個人價值與技術洞察</a:t>
            </a:r>
            <a:endParaRPr lang="en-US" sz="2700" dirty="0"/>
          </a:p>
        </p:txBody>
      </p:sp>
      <p:sp>
        <p:nvSpPr>
          <p:cNvPr id="26" name="Text 1"/>
          <p:cNvSpPr/>
          <p:nvPr/>
        </p:nvSpPr>
        <p:spPr>
          <a:xfrm>
            <a:off x="771525" y="11430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技術能力展現</a:t>
            </a:r>
            <a:endParaRPr lang="en-US" sz="1800" dirty="0"/>
          </a:p>
        </p:txBody>
      </p:sp>
      <p:sp>
        <p:nvSpPr>
          <p:cNvPr id="27" name="Text 2"/>
          <p:cNvSpPr/>
          <p:nvPr/>
        </p:nvSpPr>
        <p:spPr>
          <a:xfrm>
            <a:off x="971550" y="1752600"/>
            <a:ext cx="481965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資料前處理與降維</a:t>
            </a:r>
            <a:endParaRPr lang="en-US" sz="1350" dirty="0"/>
          </a:p>
        </p:txBody>
      </p:sp>
      <p:sp>
        <p:nvSpPr>
          <p:cNvPr id="28" name="Text 3"/>
          <p:cNvSpPr/>
          <p:nvPr/>
        </p:nvSpPr>
        <p:spPr>
          <a:xfrm>
            <a:off x="971550" y="2019300"/>
            <a:ext cx="481965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成功解決88,000詞彙的大數據挑戰，將詞彙庫精簡至3,733個關鍵詞，降低計算複雜度</a:t>
            </a:r>
            <a:endParaRPr lang="en-US" sz="1200" dirty="0"/>
          </a:p>
        </p:txBody>
      </p:sp>
      <p:sp>
        <p:nvSpPr>
          <p:cNvPr id="29" name="Text 4"/>
          <p:cNvSpPr/>
          <p:nvPr/>
        </p:nvSpPr>
        <p:spPr>
          <a:xfrm>
            <a:off x="800100" y="2933700"/>
            <a:ext cx="4766816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主題模型建立與分析</a:t>
            </a:r>
            <a:endParaRPr lang="en-US" sz="1350" dirty="0"/>
          </a:p>
        </p:txBody>
      </p:sp>
      <p:sp>
        <p:nvSpPr>
          <p:cNvPr id="30" name="Text 5"/>
          <p:cNvSpPr/>
          <p:nvPr/>
        </p:nvSpPr>
        <p:spPr>
          <a:xfrm>
            <a:off x="800100" y="3200400"/>
            <a:ext cx="5720179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應用NMF模型成功將文本分群為15個主題，展現高內聚、低耦合的特性</a:t>
            </a:r>
            <a:endParaRPr lang="en-US" sz="1200" dirty="0"/>
          </a:p>
        </p:txBody>
      </p:sp>
      <p:sp>
        <p:nvSpPr>
          <p:cNvPr id="31" name="Text 6"/>
          <p:cNvSpPr/>
          <p:nvPr/>
        </p:nvSpPr>
        <p:spPr>
          <a:xfrm>
            <a:off x="1019175" y="3886200"/>
            <a:ext cx="41148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系統設計與架構</a:t>
            </a:r>
            <a:endParaRPr lang="en-US" sz="1350" dirty="0"/>
          </a:p>
        </p:txBody>
      </p:sp>
      <p:sp>
        <p:nvSpPr>
          <p:cNvPr id="32" name="Text 7"/>
          <p:cNvSpPr/>
          <p:nvPr/>
        </p:nvSpPr>
        <p:spPr>
          <a:xfrm>
            <a:off x="1019175" y="4152900"/>
            <a:ext cx="4937760" cy="2286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設計關鍵字關聯與文件關聯查詢管道，建立可擴展的分析框架</a:t>
            </a:r>
            <a:endParaRPr lang="en-US" sz="1200" dirty="0"/>
          </a:p>
        </p:txBody>
      </p:sp>
      <p:sp>
        <p:nvSpPr>
          <p:cNvPr id="33" name="Text 8"/>
          <p:cNvSpPr/>
          <p:nvPr/>
        </p:nvSpPr>
        <p:spPr>
          <a:xfrm>
            <a:off x="6591300" y="1143000"/>
            <a:ext cx="5486400" cy="3048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400"/>
              </a:lnSpc>
              <a:buNone/>
            </a:pPr>
            <a:r>
              <a:rPr lang="en-US" sz="18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業務價值與洞察</a:t>
            </a:r>
            <a:endParaRPr lang="en-US" sz="1800" dirty="0"/>
          </a:p>
        </p:txBody>
      </p:sp>
      <p:sp>
        <p:nvSpPr>
          <p:cNvPr id="34" name="Text 9"/>
          <p:cNvSpPr/>
          <p:nvPr/>
        </p:nvSpPr>
        <p:spPr>
          <a:xfrm>
            <a:off x="6734175" y="1752600"/>
            <a:ext cx="4848225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完整的數據科學專案生命週期</a:t>
            </a:r>
            <a:endParaRPr lang="en-US" sz="1350" dirty="0"/>
          </a:p>
        </p:txBody>
      </p:sp>
      <p:sp>
        <p:nvSpPr>
          <p:cNvPr id="35" name="Text 10"/>
          <p:cNvSpPr/>
          <p:nvPr/>
        </p:nvSpPr>
        <p:spPr>
          <a:xfrm>
            <a:off x="6734175" y="2019300"/>
            <a:ext cx="4848225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從問題定義、演算法設計、模型實作到結果驗證，展現完整的專案管理能力</a:t>
            </a:r>
            <a:endParaRPr lang="en-US" sz="1200" dirty="0"/>
          </a:p>
        </p:txBody>
      </p:sp>
      <p:sp>
        <p:nvSpPr>
          <p:cNvPr id="36" name="Text 11"/>
          <p:cNvSpPr/>
          <p:nvPr/>
        </p:nvSpPr>
        <p:spPr>
          <a:xfrm>
            <a:off x="6781800" y="29337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複雜數據轉化為有意義洞察</a:t>
            </a:r>
            <a:endParaRPr lang="en-US" sz="1350" dirty="0"/>
          </a:p>
        </p:txBody>
      </p:sp>
      <p:sp>
        <p:nvSpPr>
          <p:cNvPr id="37" name="Text 12"/>
          <p:cNvSpPr/>
          <p:nvPr/>
        </p:nvSpPr>
        <p:spPr>
          <a:xfrm>
            <a:off x="6781800" y="3200400"/>
            <a:ext cx="4800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展現將非結構化文本轉化為可操作數據的能力，為業務決策提供堅實基礎</a:t>
            </a:r>
            <a:endParaRPr lang="en-US" sz="1200" dirty="0"/>
          </a:p>
        </p:txBody>
      </p:sp>
      <p:sp>
        <p:nvSpPr>
          <p:cNvPr id="38" name="Text 13"/>
          <p:cNvSpPr/>
          <p:nvPr/>
        </p:nvSpPr>
        <p:spPr>
          <a:xfrm>
            <a:off x="6781800" y="4114800"/>
            <a:ext cx="4800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2100"/>
              </a:lnSpc>
              <a:buNone/>
            </a:pPr>
            <a:r>
              <a:rPr lang="en-US" sz="1350" b="1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兼具準確性與可解釋性</a:t>
            </a:r>
            <a:endParaRPr lang="en-US" sz="1350" dirty="0"/>
          </a:p>
        </p:txBody>
      </p:sp>
      <p:sp>
        <p:nvSpPr>
          <p:cNvPr id="39" name="Text 14"/>
          <p:cNvSpPr/>
          <p:nvPr/>
        </p:nvSpPr>
        <p:spPr>
          <a:xfrm>
            <a:off x="6781800" y="4381500"/>
            <a:ext cx="4800600" cy="4572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200" dirty="0">
                <a:solidFill>
                  <a:srgbClr val="4B55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建立的分析框架不僅準確，且結果具有可解釋性，便於業務人員理解與應用</a:t>
            </a:r>
            <a:endParaRPr lang="en-US" sz="1200" dirty="0"/>
          </a:p>
        </p:txBody>
      </p:sp>
      <p:sp>
        <p:nvSpPr>
          <p:cNvPr id="40" name="Text 15"/>
          <p:cNvSpPr/>
          <p:nvPr/>
        </p:nvSpPr>
        <p:spPr>
          <a:xfrm>
            <a:off x="457200" y="5410200"/>
            <a:ext cx="11277600" cy="2667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74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數據科學專案生命週期</a:t>
            </a:r>
            <a:endParaRPr lang="en-US" sz="1500" dirty="0"/>
          </a:p>
        </p:txBody>
      </p:sp>
      <p:sp>
        <p:nvSpPr>
          <p:cNvPr id="41" name="Text 16"/>
          <p:cNvSpPr/>
          <p:nvPr/>
        </p:nvSpPr>
        <p:spPr>
          <a:xfrm>
            <a:off x="837843" y="619125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問題定義</a:t>
            </a:r>
            <a:endParaRPr lang="en-US" sz="1050" dirty="0"/>
          </a:p>
        </p:txBody>
      </p:sp>
      <p:sp>
        <p:nvSpPr>
          <p:cNvPr id="42" name="Text 17"/>
          <p:cNvSpPr/>
          <p:nvPr/>
        </p:nvSpPr>
        <p:spPr>
          <a:xfrm>
            <a:off x="2483733" y="619125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資料收集</a:t>
            </a:r>
            <a:endParaRPr lang="en-US" sz="1050" dirty="0"/>
          </a:p>
        </p:txBody>
      </p:sp>
      <p:sp>
        <p:nvSpPr>
          <p:cNvPr id="43" name="Text 18"/>
          <p:cNvSpPr/>
          <p:nvPr/>
        </p:nvSpPr>
        <p:spPr>
          <a:xfrm>
            <a:off x="4049613" y="6191250"/>
            <a:ext cx="80010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資料前處理</a:t>
            </a:r>
            <a:endParaRPr lang="en-US" sz="1050" dirty="0"/>
          </a:p>
        </p:txBody>
      </p:sp>
      <p:sp>
        <p:nvSpPr>
          <p:cNvPr id="44" name="Text 19"/>
          <p:cNvSpPr/>
          <p:nvPr/>
        </p:nvSpPr>
        <p:spPr>
          <a:xfrm>
            <a:off x="5775514" y="619125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模型建立</a:t>
            </a:r>
            <a:endParaRPr lang="en-US" sz="1050" dirty="0"/>
          </a:p>
        </p:txBody>
      </p:sp>
      <p:sp>
        <p:nvSpPr>
          <p:cNvPr id="45" name="Text 20"/>
          <p:cNvSpPr/>
          <p:nvPr/>
        </p:nvSpPr>
        <p:spPr>
          <a:xfrm>
            <a:off x="7421404" y="619125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模型驗證</a:t>
            </a:r>
            <a:endParaRPr lang="en-US" sz="1050" dirty="0"/>
          </a:p>
        </p:txBody>
      </p:sp>
      <p:sp>
        <p:nvSpPr>
          <p:cNvPr id="46" name="Text 21"/>
          <p:cNvSpPr/>
          <p:nvPr/>
        </p:nvSpPr>
        <p:spPr>
          <a:xfrm>
            <a:off x="9067294" y="619125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結果解釋</a:t>
            </a:r>
            <a:endParaRPr lang="en-US" sz="1050" dirty="0"/>
          </a:p>
        </p:txBody>
      </p:sp>
      <p:sp>
        <p:nvSpPr>
          <p:cNvPr id="47" name="Text 22"/>
          <p:cNvSpPr/>
          <p:nvPr/>
        </p:nvSpPr>
        <p:spPr>
          <a:xfrm>
            <a:off x="10713184" y="6191250"/>
            <a:ext cx="640080" cy="190500"/>
          </a:xfrm>
          <a:prstGeom prst="rect">
            <a:avLst/>
          </a:prstGeom>
          <a:noFill/>
          <a:ln/>
        </p:spPr>
        <p:txBody>
          <a:bodyPr vert="horz" wrap="square" lIns="0" tIns="0" rIns="0" bIns="0" rtlCol="0" anchor="t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05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業務應用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579</TotalTime>
  <Words>1059</Words>
  <Application>Microsoft Office PowerPoint</Application>
  <PresentationFormat>寬螢幕</PresentationFormat>
  <Paragraphs>168</Paragraphs>
  <Slides>12</Slides>
  <Notes>11</Notes>
  <HiddenSlides>2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8" baseType="lpstr">
      <vt:lpstr>Helvetica Neue</vt:lpstr>
      <vt:lpstr>Noto Sans TC</vt:lpstr>
      <vt:lpstr>ui-monospace</vt:lpstr>
      <vt:lpstr>ADLaM Display</vt:lpstr>
      <vt:lpstr>Arial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Chen Wei (William)</cp:lastModifiedBy>
  <cp:revision>2</cp:revision>
  <dcterms:created xsi:type="dcterms:W3CDTF">2025-11-19T21:16:43Z</dcterms:created>
  <dcterms:modified xsi:type="dcterms:W3CDTF">2025-11-20T06:56:52Z</dcterms:modified>
</cp:coreProperties>
</file>